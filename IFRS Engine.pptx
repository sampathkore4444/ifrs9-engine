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2" r:id="rId2"/>
    <p:sldId id="274" r:id="rId3"/>
    <p:sldId id="263" r:id="rId4"/>
    <p:sldId id="264" r:id="rId5"/>
    <p:sldId id="273" r:id="rId6"/>
    <p:sldId id="272" r:id="rId7"/>
    <p:sldId id="266" r:id="rId8"/>
    <p:sldId id="267" r:id="rId9"/>
    <p:sldId id="268" r:id="rId10"/>
    <p:sldId id="269" r:id="rId11"/>
    <p:sldId id="271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96E82-1ECA-4532-8914-5E420A0E6E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34285-5C58-47ED-8929-1A69805FB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77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6455-0C33-DC12-4AE9-FE8A4C97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932F9-A0C1-AB36-AC0A-96D6815F9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CCA6D-0657-08E1-26A8-920CB23A6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B8BA1-4D2B-5773-7D07-A2E12C12F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34285-5C58-47ED-8929-1A69805FB5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08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579CC-CAB4-5CBC-9717-480FE4612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9511B-671D-E246-AE34-B8D172380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A6AE1-9E87-7425-AA4B-538EF8513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ED5AC-1FA4-AFE0-BF20-FD9924F32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34285-5C58-47ED-8929-1A69805FB5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8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34285-5C58-47ED-8929-1A69805FB5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4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4204-798D-DB82-0120-227189B84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E1DE3B-328E-2DB0-84E7-17B57BFC1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99708-83E7-BCD9-3C4E-F887CF3E1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FD0BF-B47C-7D09-0853-99182F26C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ECE01-AA8F-1331-BFFE-635C1B96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2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AA3E-1E38-179E-1AA1-C14BA13C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25E2E-A2C7-9B8A-9D7D-202780516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30E04-8B9B-4120-D01B-C5B325FC8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3D52D-581C-C659-59C1-A508F3FD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A4A87-5713-2687-26CB-AC0701D8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0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8E9F-46A6-4DFD-A7E6-6BD3C57A8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3B0DE-BC34-8706-94EE-B0B5F8987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1696B-24DE-E806-ACE1-F4333575F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5DF7-C4D4-D8F6-6594-D8C3E660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BE870-1BC5-33C8-C9BB-A22C6166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2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684A-7F8D-AD01-883A-B9DC8FE8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8E6B1-7E78-E00A-66EE-4A4586324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64D8F-2F3F-BC67-E791-8919A3C30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74370-C8FF-1B58-70B5-C6D8AF81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C57A5-0F14-0052-248D-7B1152E7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23AA8-3806-FFE3-2B7B-ADC3978F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68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F775-09D4-CE2B-78C3-D3B962238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BE26E-470F-261F-C2C1-08F95D3FE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9EC9F-0A1B-FCD9-9137-618FD79A2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780A62-0202-1F15-28BA-47B89AE2B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9A6877-A6BD-D7B8-B4C5-2C0DA7150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B9E01-EEC6-4D04-50F0-9C9DBCD34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38F436-1FB3-4EEA-6ACA-ED642ED7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67AEB1-11B6-4EC0-7FF8-7FA7922E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1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73BB-54FA-CCD6-741F-BD86FA53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846226-BE2D-84E0-FF72-F5FC1EFD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70E84-131F-C78D-3642-24709847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E5ED3-7E4D-E07B-A3A7-19D8AD88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0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D564AF-9175-C959-9EF4-28D89D06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5172B-1775-D69C-0AFE-C2BF4DC69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4A462-899E-9289-619E-D75CB08D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66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95210-E4EC-4708-EE9D-78793A7C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E841E-B9A0-6F36-1D84-B0D8C607F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55FFE-8265-B49F-C018-641F05448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2F540-18BC-E555-776A-C8538DDA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3B5BF-EBAA-DCFC-C57D-390C5424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F8845-1B27-5EF2-B1C2-9B1EFC31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6989-3016-9EE3-900C-688D3CF8C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E6876E-C427-04AA-169A-B6DFC2610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A9153-1501-97AC-D797-A0CF02B15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C3A27-88AE-8193-E466-EA71824E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CD494-D224-8C70-810C-2C9A4AE08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C2C8E-8726-9E75-DB0B-A85B7B03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2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01C9-0167-A4CA-8515-7CA719EC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54FA4-E021-D283-0AAE-68761812E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4CC6-32D7-6AE7-0325-C8A185079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65354-36F1-C6A2-58A3-D5BA15E7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73320-5351-1B8C-04A1-A22118BC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4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1244DE-C92B-8784-4185-65CD8B69B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6FBAD-0022-66F5-7254-4BE091CE8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4D059-65A9-F255-5689-E73F24216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648C7-5DB4-FB00-F7F8-EA546CC2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E1F0B-8E45-A281-AE04-A5661526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90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3DD30-DB58-FA53-715A-C032B4AE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95B25-1CD5-B760-DC90-049BBD954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3CBDB-5172-580D-95B1-5887B43A8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A57F5-22E1-475F-A2EB-0BB6F040A9E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303-626A-C7BB-E4D8-F86D185C3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ECA4C-1EBD-8ECB-0B94-9B24B2401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88AA4-E49D-47CE-9756-6D4B6F13D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8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7890-4030-AB44-7E87-558623AE3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407" y="1755971"/>
            <a:ext cx="9947082" cy="305069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IFRS 9 Compliance: A streamlined ECL Engine Solution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Compliant, Auditable, Deployable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Lifetime PD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Cashflow LGD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Stage 3 ECL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Scenario-Weighted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F72D7-A1C0-66EB-A199-3E985F6A539D}"/>
              </a:ext>
            </a:extLst>
          </p:cNvPr>
          <p:cNvSpPr txBox="1"/>
          <p:nvPr/>
        </p:nvSpPr>
        <p:spPr>
          <a:xfrm>
            <a:off x="9309219" y="5510746"/>
            <a:ext cx="2393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Kore Sampath Kumar</a:t>
            </a:r>
          </a:p>
        </p:txBody>
      </p:sp>
    </p:spTree>
    <p:extLst>
      <p:ext uri="{BB962C8B-B14F-4D97-AF65-F5344CB8AC3E}">
        <p14:creationId xmlns:p14="http://schemas.microsoft.com/office/powerpoint/2010/main" val="3859840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F455B-58AD-55CA-711C-F8DE11C5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8FC6-A552-952B-E511-18FFF995E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150" y="445273"/>
            <a:ext cx="3695700" cy="274155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17F-87C5-2FEE-CB77-482E9FD03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69" y="887038"/>
            <a:ext cx="10515600" cy="4710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IFRS 9 compliance is mandatory for expected credit loss (ECL) reporting Manual/semi-automated processes are slow, error-prone, and difficult to audit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IFRS 9 Engine provides: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Stage-aware PD &amp; ECL calculation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Cashflow-based LGD modeling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Stage 3 discounted recoveries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Scenario-weighted outputs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SQL &amp; Airflow integration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Benefits: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month-end close from days to hours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Eliminate audit findings and regulator challenges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 dynamic stress testing capabilities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Transparent, auditable methodology</a:t>
            </a:r>
          </a:p>
        </p:txBody>
      </p:sp>
    </p:spTree>
    <p:extLst>
      <p:ext uri="{BB962C8B-B14F-4D97-AF65-F5344CB8AC3E}">
        <p14:creationId xmlns:p14="http://schemas.microsoft.com/office/powerpoint/2010/main" val="85644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33830-AED4-4EBB-5DEA-0D2566E5F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059" y="277910"/>
            <a:ext cx="2109746" cy="315912"/>
          </a:xfrm>
        </p:spPr>
        <p:txBody>
          <a:bodyPr>
            <a:normAutofit fontScale="9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40505-EB46-FA0B-2AED-47929C26C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12" y="800238"/>
            <a:ext cx="10515600" cy="5131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in IFRS 9 Compliance: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Inefficiency: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Excel-based calculations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Manual errors, version control issues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reporting cycles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5-10 day month-end close process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scenario analysis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Inadequate stress testing for regulators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Risk: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Opaque methodologies – Difficult audit defense, long review cycles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risk – Unvalidated assumptions, inconsistent calculations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Impact: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consultancy costs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$500K+ annually for external support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penalties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Potential fines for non-compliance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insights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Limited ability to optimize provisioning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Regulatory risk, operational inefficiency, and financial waste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26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E54E-05B5-88E9-4DF5-14BCC16A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000" y="119062"/>
            <a:ext cx="5555146" cy="581025"/>
          </a:xfrm>
        </p:spPr>
        <p:txBody>
          <a:bodyPr>
            <a:normAutofit fontScale="9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IFRS 9 Engine – Complete Compliance Platform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4731F-FEBA-7B96-EEC1-52EC5F7C9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743" y="766610"/>
            <a:ext cx="10515600" cy="54990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Capabilities:</a:t>
            </a:r>
          </a:p>
          <a:p>
            <a:pPr marL="342900" indent="-342900"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Stage-Aware ECL Calculation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SICR detection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Lifetime PD for Stage 2+3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Cashflow-based LGD modeling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Discounted Stage 3 recoveries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Scenario 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Base, upside, downside scenarios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Regulatory-prescribed weighting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scenario creation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analysis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Automation &amp; Integration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native connectivity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Airflow orchestration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containerization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trail generation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Deployment Options: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On-premise or cloud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4-week implementation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Pilot-to-production methodology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35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7C7C3-5A44-A3BB-7FEE-226CA167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6CFD-F5BE-0CD4-54F8-CDA4EF72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880" y="98425"/>
            <a:ext cx="2636520" cy="389255"/>
          </a:xfrm>
        </p:spPr>
        <p:txBody>
          <a:bodyPr>
            <a:norm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5: How it Works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652BD-B19B-9126-F2E6-515609352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1" y="487680"/>
            <a:ext cx="10459610" cy="5647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IFRS 9 Calculation Engine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AEE32B8E-9A3C-4BB4-4E1E-4C83D871C5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189AC6-291A-5C7B-F9A6-5DF469E3E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105" y="876935"/>
            <a:ext cx="5079912" cy="583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60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7B057-8837-5269-486A-975FD320C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97342-F03D-A024-6B34-6E528A30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880" y="98425"/>
            <a:ext cx="2636520" cy="389255"/>
          </a:xfrm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Allocation Logic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0D962-43B5-BC29-76D6-E8E32B844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60" y="697864"/>
            <a:ext cx="10459610" cy="5647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SICR-Based Classification Framework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SICR Triggers (Configurable):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DPD Thresholds: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30+ days past due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 Deterioration: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20%+ increase in 12m PD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Forbearance: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Modified terms granted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Watchlist Status: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Internal risk rating downgrade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Covenant Breaches: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Technical defaults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Ratings: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Downgrade below investment grade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71BCE2-85BF-84F0-E283-07E88DCE1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165686"/>
              </p:ext>
            </p:extLst>
          </p:nvPr>
        </p:nvGraphicFramePr>
        <p:xfrm>
          <a:off x="684847" y="1135591"/>
          <a:ext cx="737806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259">
                  <a:extLst>
                    <a:ext uri="{9D8B030D-6E8A-4147-A177-3AD203B41FA5}">
                      <a16:colId xmlns:a16="http://schemas.microsoft.com/office/drawing/2014/main" val="623636926"/>
                    </a:ext>
                  </a:extLst>
                </a:gridCol>
                <a:gridCol w="2351759">
                  <a:extLst>
                    <a:ext uri="{9D8B030D-6E8A-4147-A177-3AD203B41FA5}">
                      <a16:colId xmlns:a16="http://schemas.microsoft.com/office/drawing/2014/main" val="2071315243"/>
                    </a:ext>
                  </a:extLst>
                </a:gridCol>
                <a:gridCol w="1686002">
                  <a:extLst>
                    <a:ext uri="{9D8B030D-6E8A-4147-A177-3AD203B41FA5}">
                      <a16:colId xmlns:a16="http://schemas.microsoft.com/office/drawing/2014/main" val="2966817886"/>
                    </a:ext>
                  </a:extLst>
                </a:gridCol>
                <a:gridCol w="2418045">
                  <a:extLst>
                    <a:ext uri="{9D8B030D-6E8A-4147-A177-3AD203B41FA5}">
                      <a16:colId xmlns:a16="http://schemas.microsoft.com/office/drawing/2014/main" val="579745184"/>
                    </a:ext>
                  </a:extLst>
                </a:gridCol>
              </a:tblGrid>
              <a:tr h="30084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Criteria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ECL Calculation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Portfolio 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421456"/>
                  </a:ext>
                </a:extLst>
              </a:tr>
              <a:tr h="511440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Stage 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Performing loans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SICR triggers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12-month ECL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85-95%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140347"/>
                  </a:ext>
                </a:extLst>
              </a:tr>
              <a:tr h="511440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Stage 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Significant credit risk increase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(SICR identified)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Lifetime ECL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5-12%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846614"/>
                  </a:ext>
                </a:extLst>
              </a:tr>
              <a:tr h="722033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Stage 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Credit-impaired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Objective evidence of loss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Lifetime ECL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Discounted recoveries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1-3%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68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536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053B-9AEC-1B80-57D1-26AA41627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880" y="98425"/>
            <a:ext cx="2636520" cy="389255"/>
          </a:xfrm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Lifetime PD Modeling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4DB7E-EF7A-0D48-747D-8FB55187E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60" y="697864"/>
            <a:ext cx="10459610" cy="5647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From 12-month to Lifetime Projections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Convert 12-month PD → Monthly hazard rate</a:t>
            </a:r>
          </a:p>
          <a:p>
            <a:pPr marL="0" indent="0">
              <a:buNone/>
            </a:pP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Project over remaining loan term</a:t>
            </a:r>
          </a:p>
          <a:p>
            <a:pPr marL="0" indent="0">
              <a:buNone/>
            </a:pP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Apply scenario multipliers</a:t>
            </a:r>
          </a:p>
          <a:p>
            <a:pPr marL="0" indent="0">
              <a:buNone/>
            </a:pP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Calculate cumulative lifetime PD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 Projection Example: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5-year term, 36 months remaining, Base PD: 2.5%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852A2A76-F9F5-F751-5E41-D38E489D3B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6966524"/>
              </p:ext>
            </p:extLst>
          </p:nvPr>
        </p:nvGraphicFramePr>
        <p:xfrm>
          <a:off x="923346" y="3866364"/>
          <a:ext cx="6758940" cy="1570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735">
                  <a:extLst>
                    <a:ext uri="{9D8B030D-6E8A-4147-A177-3AD203B41FA5}">
                      <a16:colId xmlns:a16="http://schemas.microsoft.com/office/drawing/2014/main" val="1210547832"/>
                    </a:ext>
                  </a:extLst>
                </a:gridCol>
                <a:gridCol w="1689735">
                  <a:extLst>
                    <a:ext uri="{9D8B030D-6E8A-4147-A177-3AD203B41FA5}">
                      <a16:colId xmlns:a16="http://schemas.microsoft.com/office/drawing/2014/main" val="2838496487"/>
                    </a:ext>
                  </a:extLst>
                </a:gridCol>
                <a:gridCol w="1689735">
                  <a:extLst>
                    <a:ext uri="{9D8B030D-6E8A-4147-A177-3AD203B41FA5}">
                      <a16:colId xmlns:a16="http://schemas.microsoft.com/office/drawing/2014/main" val="568776226"/>
                    </a:ext>
                  </a:extLst>
                </a:gridCol>
                <a:gridCol w="1689735">
                  <a:extLst>
                    <a:ext uri="{9D8B030D-6E8A-4147-A177-3AD203B41FA5}">
                      <a16:colId xmlns:a16="http://schemas.microsoft.com/office/drawing/2014/main" val="2761267175"/>
                    </a:ext>
                  </a:extLst>
                </a:gridCol>
              </a:tblGrid>
              <a:tr h="314134"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ECL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87109"/>
                  </a:ext>
                </a:extLst>
              </a:tr>
              <a:tr h="31413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1.35M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0.68M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736388"/>
                  </a:ext>
                </a:extLst>
              </a:tr>
              <a:tr h="31413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1.08M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0.22M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45037"/>
                  </a:ext>
                </a:extLst>
              </a:tr>
              <a:tr h="31413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1.76M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0.53M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328021"/>
                  </a:ext>
                </a:extLst>
              </a:tr>
              <a:tr h="31413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1.4M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219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987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05171-7B2E-E4F1-D965-7255E97D0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22E9-C7CC-9E8F-F6C1-EF0C875C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539" y="234540"/>
            <a:ext cx="2636520" cy="389255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Cashflow-Based LGD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9AC99-E3A4-ABF2-432A-2E8EF3E9D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60" y="697864"/>
            <a:ext cx="10515600" cy="54971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Regulator-Preferred Methodology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vs. Cashflow Approach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Formula: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	  </a:t>
            </a:r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Calculation: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LGD = 1 - [PV(Recoveries) / EAD]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PV(Recoveries) = Σ [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Recovery_t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(1 + r)^t]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EAD = Exposure at Default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 = Effective Interest Rate (EIR)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971DCDE-6EFD-BF26-0E16-7C4C04A156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6130756"/>
              </p:ext>
            </p:extLst>
          </p:nvPr>
        </p:nvGraphicFramePr>
        <p:xfrm>
          <a:off x="756699" y="1564101"/>
          <a:ext cx="6309360" cy="1146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21054783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384964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68776226"/>
                    </a:ext>
                  </a:extLst>
                </a:gridCol>
              </a:tblGrid>
              <a:tr h="31413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Regulator 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87109"/>
                  </a:ext>
                </a:extLst>
              </a:tr>
              <a:tr h="31413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LGD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Historical average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preferred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736388"/>
                  </a:ext>
                </a:extLst>
              </a:tr>
              <a:tr h="31413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Cashflow LGD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Discounted recovery projections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 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4503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CAEA43-E46C-A755-10EE-884E42303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040663"/>
              </p:ext>
            </p:extLst>
          </p:nvPr>
        </p:nvGraphicFramePr>
        <p:xfrm>
          <a:off x="4485640" y="3576766"/>
          <a:ext cx="649478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956">
                  <a:extLst>
                    <a:ext uri="{9D8B030D-6E8A-4147-A177-3AD203B41FA5}">
                      <a16:colId xmlns:a16="http://schemas.microsoft.com/office/drawing/2014/main" val="3399638827"/>
                    </a:ext>
                  </a:extLst>
                </a:gridCol>
                <a:gridCol w="1298956">
                  <a:extLst>
                    <a:ext uri="{9D8B030D-6E8A-4147-A177-3AD203B41FA5}">
                      <a16:colId xmlns:a16="http://schemas.microsoft.com/office/drawing/2014/main" val="609558451"/>
                    </a:ext>
                  </a:extLst>
                </a:gridCol>
                <a:gridCol w="1298956">
                  <a:extLst>
                    <a:ext uri="{9D8B030D-6E8A-4147-A177-3AD203B41FA5}">
                      <a16:colId xmlns:a16="http://schemas.microsoft.com/office/drawing/2014/main" val="3568357962"/>
                    </a:ext>
                  </a:extLst>
                </a:gridCol>
                <a:gridCol w="1298956">
                  <a:extLst>
                    <a:ext uri="{9D8B030D-6E8A-4147-A177-3AD203B41FA5}">
                      <a16:colId xmlns:a16="http://schemas.microsoft.com/office/drawing/2014/main" val="253138140"/>
                    </a:ext>
                  </a:extLst>
                </a:gridCol>
                <a:gridCol w="1298956">
                  <a:extLst>
                    <a:ext uri="{9D8B030D-6E8A-4147-A177-3AD203B41FA5}">
                      <a16:colId xmlns:a16="http://schemas.microsoft.com/office/drawing/2014/main" val="2161391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Loan Type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EAD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Collateral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Recovery PV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LGD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8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Mortgage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$500,000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$400,000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$380,000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24.0%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09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Auto Loan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$50,000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$30,000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$28,500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43.0%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39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Unsecured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$25,000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$5,000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80.0%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322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62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71DA4-6142-BBA7-32B6-2A7BA197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A2056-3557-7901-4F86-19DF275FA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880" y="177164"/>
            <a:ext cx="3276600" cy="389255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Weighting &amp; ECL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9BBF1-391D-659C-D16D-142BE25CA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652" y="468297"/>
            <a:ext cx="8854109" cy="63877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Stress Testing Framework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Requirement: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forward-looking scenarios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Probability-weighted outcomes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Documented rationale for weights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Framework: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 Calculation Example: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Portfolio: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$100M corporate loans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Average PD: 3% | Average LGD: 45%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Total Weighted ECL: $1.43M (1.43% of portfolio)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1F8340-399B-6779-5C2B-3668A8BD9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792302"/>
              </p:ext>
            </p:extLst>
          </p:nvPr>
        </p:nvGraphicFramePr>
        <p:xfrm>
          <a:off x="934720" y="2153920"/>
          <a:ext cx="5351780" cy="127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945">
                  <a:extLst>
                    <a:ext uri="{9D8B030D-6E8A-4147-A177-3AD203B41FA5}">
                      <a16:colId xmlns:a16="http://schemas.microsoft.com/office/drawing/2014/main" val="4198400171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1759907153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3957911251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2621290961"/>
                    </a:ext>
                  </a:extLst>
                </a:gridCol>
              </a:tblGrid>
              <a:tr h="318770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Scenario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Probability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PD Multiplier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LGD Impact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39998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Base Case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1.0x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+0%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232405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Upside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0.8x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-5%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319010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Downside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1.3x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+15%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1209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465165-4444-B206-6F56-CE531B198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869620"/>
              </p:ext>
            </p:extLst>
          </p:nvPr>
        </p:nvGraphicFramePr>
        <p:xfrm>
          <a:off x="934720" y="4856830"/>
          <a:ext cx="6068059" cy="1261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309">
                  <a:extLst>
                    <a:ext uri="{9D8B030D-6E8A-4147-A177-3AD203B41FA5}">
                      <a16:colId xmlns:a16="http://schemas.microsoft.com/office/drawing/2014/main" val="1293333411"/>
                    </a:ext>
                  </a:extLst>
                </a:gridCol>
                <a:gridCol w="1162309">
                  <a:extLst>
                    <a:ext uri="{9D8B030D-6E8A-4147-A177-3AD203B41FA5}">
                      <a16:colId xmlns:a16="http://schemas.microsoft.com/office/drawing/2014/main" val="3260991840"/>
                    </a:ext>
                  </a:extLst>
                </a:gridCol>
                <a:gridCol w="1162309">
                  <a:extLst>
                    <a:ext uri="{9D8B030D-6E8A-4147-A177-3AD203B41FA5}">
                      <a16:colId xmlns:a16="http://schemas.microsoft.com/office/drawing/2014/main" val="1589765232"/>
                    </a:ext>
                  </a:extLst>
                </a:gridCol>
                <a:gridCol w="1497156">
                  <a:extLst>
                    <a:ext uri="{9D8B030D-6E8A-4147-A177-3AD203B41FA5}">
                      <a16:colId xmlns:a16="http://schemas.microsoft.com/office/drawing/2014/main" val="2609235432"/>
                    </a:ext>
                  </a:extLst>
                </a:gridCol>
                <a:gridCol w="1083976">
                  <a:extLst>
                    <a:ext uri="{9D8B030D-6E8A-4147-A177-3AD203B41FA5}">
                      <a16:colId xmlns:a16="http://schemas.microsoft.com/office/drawing/2014/main" val="1696598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ECL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Cumulative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10981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$1.35M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$0.68M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$0.68M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761986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$1.08M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$0.22M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$0.90M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439231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$ 1.76M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$0.53M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$1.43M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355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574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BB08C-8D8A-07D1-6EC3-32BE99719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B48C-103E-2227-C955-788541E23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880" y="98425"/>
            <a:ext cx="3497580" cy="389255"/>
          </a:xfrm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Integration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1F3E6-C146-6211-23CA-CFB8BE30C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827" y="630872"/>
            <a:ext cx="3360420" cy="5596255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Orchestrator Layer</a:t>
            </a:r>
          </a:p>
          <a:p>
            <a:pPr marL="4572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Airflow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ECL Calculation DAGs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Scheduling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&amp; Alerts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Engine</a:t>
            </a:r>
          </a:p>
          <a:p>
            <a:pPr marL="4572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Docker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PD/LGD/ECL models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logging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  <a:p>
            <a:pPr marL="4572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Loan Portfolio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ECL Results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Archive: Historical Data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Layer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GL Systems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Reports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Dashboards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Auditors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7EF2D7-296E-11C8-C3E4-603F91FAD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375" y="669686"/>
            <a:ext cx="6842760" cy="551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558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1F96-96C5-06EB-4A56-BC7B7AF2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875" y="92005"/>
            <a:ext cx="2048123" cy="485665"/>
          </a:xfrm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Time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D03146F-BD3B-B678-EE41-588B620D44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76684"/>
              </p:ext>
            </p:extLst>
          </p:nvPr>
        </p:nvGraphicFramePr>
        <p:xfrm>
          <a:off x="838200" y="1102056"/>
          <a:ext cx="105156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34969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33908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485706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04939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 Pilot &amp;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 </a:t>
                      </a:r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Validation &amp; Calibration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 Integration</a:t>
                      </a:r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Week 4: Go-Live &amp; Training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562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extraction (sample portfolio)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Output validation vs. current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Production data integration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Production deployment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487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Environment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PD/LGD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End-to-end testing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 training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644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Initial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Scenario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 acceptance testing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Documentation handover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15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First test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Regulatory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Performance optimization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Support transition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989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898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D45C-88D2-0D6E-00AA-59FB3B9E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765" y="2249584"/>
            <a:ext cx="5033176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Thank you</a:t>
            </a:r>
          </a:p>
        </p:txBody>
      </p:sp>
    </p:spTree>
    <p:extLst>
      <p:ext uri="{BB962C8B-B14F-4D97-AF65-F5344CB8AC3E}">
        <p14:creationId xmlns:p14="http://schemas.microsoft.com/office/powerpoint/2010/main" val="128917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895</Words>
  <Application>Microsoft Office PowerPoint</Application>
  <PresentationFormat>Widescreen</PresentationFormat>
  <Paragraphs>262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Office Theme</vt:lpstr>
      <vt:lpstr>Transforming IFRS 9 Compliance: A streamlined ECL Engine Solution        Compliant, Auditable, Deployable  • Lifetime PD • Cashflow LGD  • Stage 3 ECL  • Scenario-Weighted    </vt:lpstr>
      <vt:lpstr>Executive Summary  </vt:lpstr>
      <vt:lpstr>Problem Statement </vt:lpstr>
      <vt:lpstr>Our Solution IFRS 9 Engine – Complete Compliance Platform </vt:lpstr>
      <vt:lpstr>5: How it Works</vt:lpstr>
      <vt:lpstr>Stage Allocation Logic</vt:lpstr>
      <vt:lpstr>Lifetime PD Modeling</vt:lpstr>
      <vt:lpstr>Cashflow-Based LGD </vt:lpstr>
      <vt:lpstr>Scenario Weighting &amp; ECL </vt:lpstr>
      <vt:lpstr>Architecture &amp; Integration</vt:lpstr>
      <vt:lpstr>Deployment Time</vt:lpstr>
      <vt:lpstr>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</dc:creator>
  <cp:lastModifiedBy>IT</cp:lastModifiedBy>
  <cp:revision>321</cp:revision>
  <dcterms:created xsi:type="dcterms:W3CDTF">2026-01-30T09:13:36Z</dcterms:created>
  <dcterms:modified xsi:type="dcterms:W3CDTF">2026-01-31T03:05:30Z</dcterms:modified>
</cp:coreProperties>
</file>