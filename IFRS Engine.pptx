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62" r:id="rId2"/>
    <p:sldId id="274" r:id="rId3"/>
    <p:sldId id="263" r:id="rId4"/>
    <p:sldId id="264" r:id="rId5"/>
    <p:sldId id="273" r:id="rId6"/>
    <p:sldId id="272" r:id="rId7"/>
    <p:sldId id="266" r:id="rId8"/>
    <p:sldId id="267" r:id="rId9"/>
    <p:sldId id="268" r:id="rId10"/>
    <p:sldId id="269" r:id="rId11"/>
    <p:sldId id="271" r:id="rId12"/>
    <p:sldId id="270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Cumulative PD</a:t>
            </a:r>
          </a:p>
        </c:rich>
      </c:tx>
      <c:overlay val="0"/>
      <c:sp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4604084645669293E-2"/>
          <c:y val="0.1769503459061057"/>
          <c:w val="0.94539591535433076"/>
          <c:h val="0.7677295910599415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Basecase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Sheet1!$A$2:$A$5</c:f>
              <c:numCache>
                <c:formatCode>General</c:formatCode>
                <c:ptCount val="4"/>
                <c:pt idx="0">
                  <c:v>12</c:v>
                </c:pt>
                <c:pt idx="1">
                  <c:v>24</c:v>
                </c:pt>
                <c:pt idx="2">
                  <c:v>36</c:v>
                </c:pt>
              </c:numCache>
            </c:numRef>
          </c:cat>
          <c:val>
            <c:numRef>
              <c:f>Sheet1!$B$2:$B$5</c:f>
              <c:numCache>
                <c:formatCode>0.00%</c:formatCode>
                <c:ptCount val="4"/>
                <c:pt idx="0">
                  <c:v>2.5000000000000001E-2</c:v>
                </c:pt>
                <c:pt idx="1">
                  <c:v>4.8500000000000001E-2</c:v>
                </c:pt>
                <c:pt idx="2">
                  <c:v>7.0499999999999993E-2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7D3-4170-8BC9-DE281CEC076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Upside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numRef>
              <c:f>Sheet1!$A$2:$A$5</c:f>
              <c:numCache>
                <c:formatCode>General</c:formatCode>
                <c:ptCount val="4"/>
                <c:pt idx="0">
                  <c:v>12</c:v>
                </c:pt>
                <c:pt idx="1">
                  <c:v>24</c:v>
                </c:pt>
                <c:pt idx="2">
                  <c:v>36</c:v>
                </c:pt>
              </c:numCache>
            </c:numRef>
          </c:cat>
          <c:val>
            <c:numRef>
              <c:f>Sheet1!$C$2:$C$5</c:f>
              <c:numCache>
                <c:formatCode>0.00%</c:formatCode>
                <c:ptCount val="4"/>
                <c:pt idx="0">
                  <c:v>0.02</c:v>
                </c:pt>
                <c:pt idx="1">
                  <c:v>3.8800000000000001E-2</c:v>
                </c:pt>
                <c:pt idx="2">
                  <c:v>5.6399999999999999E-2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7D3-4170-8BC9-DE281CEC076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Downside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numRef>
              <c:f>Sheet1!$A$2:$A$5</c:f>
              <c:numCache>
                <c:formatCode>General</c:formatCode>
                <c:ptCount val="4"/>
                <c:pt idx="0">
                  <c:v>12</c:v>
                </c:pt>
                <c:pt idx="1">
                  <c:v>24</c:v>
                </c:pt>
                <c:pt idx="2">
                  <c:v>36</c:v>
                </c:pt>
              </c:numCache>
            </c:numRef>
          </c:cat>
          <c:val>
            <c:numRef>
              <c:f>Sheet1!$D$2:$D$5</c:f>
              <c:numCache>
                <c:formatCode>0.00%</c:formatCode>
                <c:ptCount val="4"/>
                <c:pt idx="0">
                  <c:v>3.2500000000000001E-2</c:v>
                </c:pt>
                <c:pt idx="1">
                  <c:v>6.3E-2</c:v>
                </c:pt>
                <c:pt idx="2">
                  <c:v>9.1700000000000004E-2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7D3-4170-8BC9-DE281CEC076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246526064"/>
        <c:axId val="1246525104"/>
      </c:barChart>
      <c:catAx>
        <c:axId val="12465260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46525104"/>
        <c:crosses val="autoZero"/>
        <c:auto val="1"/>
        <c:lblAlgn val="ctr"/>
        <c:lblOffset val="100"/>
        <c:noMultiLvlLbl val="0"/>
      </c:catAx>
      <c:valAx>
        <c:axId val="124652510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465260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696E82-1ECA-4532-8914-5E420A0E6E70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434285-5C58-47ED-8929-1A69805FB5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277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A6455-0C33-DC12-4AE9-FE8A4C976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5932F9-A0C1-AB36-AC0A-96D6815F93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8CCA6D-0657-08E1-26A8-920CB23A62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3B8BA1-4D2B-5773-7D07-A2E12C12F3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434285-5C58-47ED-8929-1A69805FB5F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9084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579CC-CAB4-5CBC-9717-480FE4612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E9511B-671D-E246-AE34-B8D172380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2A6AE1-9E87-7425-AA4B-538EF85137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0ED5AC-1FA4-AFE0-BF20-FD9924F322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434285-5C58-47ED-8929-1A69805FB5F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7846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434285-5C58-47ED-8929-1A69805FB5F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2493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A4204-798D-DB82-0120-227189B849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E1DE3B-328E-2DB0-84E7-17B57BFC1C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A99708-83E7-BCD9-3C4E-F887CF3E1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FD0BF-B47C-7D09-0853-99182F26C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EECE01-AA8F-1331-BFFE-635C1B96A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76247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6AA3E-1E38-179E-1AA1-C14BA13C1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25E2E-A2C7-9B8A-9D7D-2027805168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930E04-8B9B-4120-D01B-C5B325FC8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13D52D-581C-C659-59C1-A508F3FDB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8A4A87-5713-2687-26CB-AC0701D8A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007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E8E9F-46A6-4DFD-A7E6-6BD3C57A8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E3B0DE-BC34-8706-94EE-B0B5F89879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1696B-24DE-E806-ACE1-F4333575F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FD5DF7-C4D4-D8F6-6594-D8C3E6606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FBE870-1BC5-33C8-C9BB-A22C6166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6271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6684A-7F8D-AD01-883A-B9DC8FE83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F8E6B1-7E78-E00A-66EE-4A45863245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464D8F-2F3F-BC67-E791-8919A3C301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174370-C8FF-1B58-70B5-C6D8AF81E8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AC57A5-0F14-0052-248D-7B1152E7A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123AA8-3806-FFE3-2B7B-ADC3978F1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2684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6F775-09D4-CE2B-78C3-D3B962238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BBE26E-470F-261F-C2C1-08F95D3FE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D9EC9F-0A1B-FCD9-9137-618FD79A2E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780A62-0202-1F15-28BA-47B89AE2B1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9A6877-A6BD-D7B8-B4C5-2C0DA71503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BB9E01-EEC6-4D04-50F0-9C9DBCD34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38F436-1FB3-4EEA-6ACA-ED642ED73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67AEB1-11B6-4EC0-7FF8-7FA7922E5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0107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873BB-54FA-CCD6-741F-BD86FA53B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846226-BE2D-84E0-FF72-F5FC1EFD1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770E84-131F-C78D-3642-24709847D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7E5ED3-7E4D-E07B-A3A7-19D8AD885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001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D564AF-9175-C959-9EF4-28D89D061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15172B-1775-D69C-0AFE-C2BF4DC69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B4A462-899E-9289-619E-D75CB08D7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3660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95210-E4EC-4708-EE9D-78793A7C4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E841E-B9A0-6F36-1D84-B0D8C607F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555FFE-8265-B49F-C018-641F05448D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02F540-18BC-E555-776A-C8538DDA4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53B5BF-EBAA-DCFC-C57D-390C542409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5F8845-1B27-5EF2-B1C2-9B1EFC31C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434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D6989-3016-9EE3-900C-688D3CF8C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E6876E-C427-04AA-169A-B6DFC26100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BA9153-1501-97AC-D797-A0CF02B154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EC3A27-88AE-8193-E466-EA71824E8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0CD494-D224-8C70-810C-2C9A4AE08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DC2C8E-8726-9E75-DB0B-A85B7B03E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5296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C01C9-0167-A4CA-8515-7CA719EC4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B54FA4-E021-D283-0AAE-68761812E2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3A4CC6-32D7-6AE7-0325-C8A185079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65354-36F1-C6A2-58A3-D5BA15E729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D73320-5351-1B8C-04A1-A22118BC9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4430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1244DE-C92B-8784-4185-65CD8B69BA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56FBAD-0022-66F5-7254-4BE091CE8D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24D059-65A9-F255-5689-E73F24216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C648C7-5DB4-FB00-F7F8-EA546CC21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E1F0B-8E45-A281-AE04-A5661526F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03906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C3DD30-DB58-FA53-715A-C032B4AEB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295B25-1CD5-B760-DC90-049BBD954D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13CBDB-5172-580D-95B1-5887B43A8A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73303-626A-C7BB-E4D8-F86D185C38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ECA4C-1EBD-8ECB-0B94-9B24B24018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085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B7890-4030-AB44-7E87-558623AE3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6407" y="1755971"/>
            <a:ext cx="9947082" cy="3050697"/>
          </a:xfrm>
        </p:spPr>
        <p:txBody>
          <a:bodyPr>
            <a:no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Transforming IFRS 9 Compliance: A streamlined ECL Engine Solution</a:t>
            </a: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				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Compliant, Auditable, Deployable</a:t>
            </a: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Lifetime PD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Cashflow LGD 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Stage 3 ECL 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Scenario-Weighted</a:t>
            </a: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F72D7-A1C0-66EB-A199-3E985F6A539D}"/>
              </a:ext>
            </a:extLst>
          </p:cNvPr>
          <p:cNvSpPr txBox="1"/>
          <p:nvPr/>
        </p:nvSpPr>
        <p:spPr>
          <a:xfrm>
            <a:off x="9309219" y="5510746"/>
            <a:ext cx="2393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Kore Sampath Kumar</a:t>
            </a:r>
          </a:p>
        </p:txBody>
      </p:sp>
    </p:spTree>
    <p:extLst>
      <p:ext uri="{BB962C8B-B14F-4D97-AF65-F5344CB8AC3E}">
        <p14:creationId xmlns:p14="http://schemas.microsoft.com/office/powerpoint/2010/main" val="3859840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F455B-58AD-55CA-711C-F8DE11C55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C8FC6-A552-952B-E511-18FFF995E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8981" y="270344"/>
            <a:ext cx="2279871" cy="274155"/>
          </a:xfrm>
        </p:spPr>
        <p:txBody>
          <a:bodyPr>
            <a:noAutofit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Executive Summary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96717F-87C5-2FEE-CB77-482E9FD035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369" y="887038"/>
            <a:ext cx="10515600" cy="47106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IFRS 9 compliance is mandatory 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expected credit loss (ECL) reporting 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Manual/semi-automated processes 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 slow, error-prone, and difficult to audit</a:t>
            </a: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IFRS 9 Engine provides:</a:t>
            </a:r>
          </a:p>
          <a:p>
            <a:pPr marL="457200" lvl="1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✓ Stage-aware PD &amp; ECL calculation</a:t>
            </a:r>
          </a:p>
          <a:p>
            <a:pPr marL="457200" lvl="1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✓ Cashflow-based LGD modeling</a:t>
            </a:r>
          </a:p>
          <a:p>
            <a:pPr marL="457200" lvl="1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✓ Stage 3 discounted recoveries</a:t>
            </a:r>
          </a:p>
          <a:p>
            <a:pPr marL="457200" lvl="1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✓ Scenario-weighted outputs</a:t>
            </a:r>
          </a:p>
          <a:p>
            <a:pPr marL="457200" lvl="1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✓ SQL &amp; Airflow integration</a:t>
            </a: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Benefits: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month-end close from days to hours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Eliminate audit findings and regulator challenges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 dynamic stress testing capabilities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Transparent, auditable methodology</a:t>
            </a:r>
          </a:p>
        </p:txBody>
      </p:sp>
    </p:spTree>
    <p:extLst>
      <p:ext uri="{BB962C8B-B14F-4D97-AF65-F5344CB8AC3E}">
        <p14:creationId xmlns:p14="http://schemas.microsoft.com/office/powerpoint/2010/main" val="856442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33830-AED4-4EBB-5DEA-0D2566E5F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72856" y="277910"/>
            <a:ext cx="6957391" cy="315912"/>
          </a:xfrm>
        </p:spPr>
        <p:txBody>
          <a:bodyPr>
            <a:noAutofit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- Current Challenges in IFRS 9 Compliance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40505-EB46-FA0B-2AED-47929C26C5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7712" y="800238"/>
            <a:ext cx="10515600" cy="5131224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14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Operational Inefficiency: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Excel-based calculations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Manual errors, version control issues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Slow reporting cycles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5-10 day month-end close process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scenario analysis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Inadequate stress testing for regulators</a:t>
            </a:r>
          </a:p>
          <a:p>
            <a:pPr lvl="1">
              <a:buFont typeface="Wingdings" panose="05000000000000000000" pitchFamily="2" charset="2"/>
              <a:buChar char="Ø"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Compliance Risk: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Opaque methodologies – 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Difficult audit defense, long review cycles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risk – 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Unvalidated assumptions, inconsistent calculations</a:t>
            </a:r>
          </a:p>
          <a:p>
            <a:pPr lvl="1">
              <a:buFont typeface="Wingdings" panose="05000000000000000000" pitchFamily="2" charset="2"/>
              <a:buChar char="Ø"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Financial Impact: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consultancy costs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$500K+ annually for external support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Regulatory penalties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Potential fines for non-compliance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Missed insights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Limited ability to optimize provisioning</a:t>
            </a:r>
          </a:p>
          <a:p>
            <a:pPr lvl="1">
              <a:buFont typeface="Wingdings" panose="05000000000000000000" pitchFamily="2" charset="2"/>
              <a:buChar char="Ø"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Regulatory risk, operational inefficiency, and financial waste</a:t>
            </a:r>
          </a:p>
          <a:p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6266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3E54E-05B5-88E9-4DF5-14BCC16AA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019" y="51104"/>
            <a:ext cx="6445692" cy="581025"/>
          </a:xfrm>
        </p:spPr>
        <p:txBody>
          <a:bodyPr>
            <a:noAutofit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Solution IFRS 9 Engine – Complete Compliance Platform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4731F-FEBA-7B96-EEC1-52EC5F7C9D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2743" y="766610"/>
            <a:ext cx="10515600" cy="54990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Core Capabilities:</a:t>
            </a:r>
          </a:p>
          <a:p>
            <a:pPr marL="342900" indent="-342900">
              <a:buAutoNum type="arabicPeriod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Stage-Aware ECL Calculation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SICR detection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Lifetime PD for Stage 2+3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Cashflow-based LGD modeling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Discounted Stage 3 recoveries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Scenario Management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Base, upside, downside scenarios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Regulatory-prescribed weighting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 scenario creation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Sensitivity analysis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Automation &amp; Integration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SQL native connectivity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Airflow orchestration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Docker containerization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Audit trail generation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Deployment Options: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On-premise or cloud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4-week implementation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Pilot-to-production methodology</a:t>
            </a:r>
          </a:p>
          <a:p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93523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7C7C3-5A44-A3BB-7FEE-226CA167F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E6CFD-F5BE-0CD4-54F8-CDA4EF72E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880" y="98425"/>
            <a:ext cx="1796332" cy="389255"/>
          </a:xfrm>
        </p:spPr>
        <p:txBody>
          <a:bodyPr>
            <a:normAutofit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it Works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8652BD-B19B-9126-F2E6-5156093528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071" y="487680"/>
            <a:ext cx="10459610" cy="5647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End-to-End IFRS 9 Calculation Engine</a:t>
            </a: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AutoShape 2">
            <a:extLst>
              <a:ext uri="{FF2B5EF4-FFF2-40B4-BE49-F238E27FC236}">
                <a16:creationId xmlns:a16="http://schemas.microsoft.com/office/drawing/2014/main" id="{AEE32B8E-9A3C-4BB4-4E1E-4C83D871C56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7189AC6-291A-5C7B-F9A6-5DF469E3E6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1105" y="876935"/>
            <a:ext cx="5079912" cy="5836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3605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7B057-8837-5269-486A-975FD320C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97342-F03D-A024-6B34-6E528A30A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880" y="98425"/>
            <a:ext cx="2636520" cy="389255"/>
          </a:xfrm>
        </p:spPr>
        <p:txBody>
          <a:bodyPr>
            <a:normAutofit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Stage Allocation Logic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00D962-43B5-BC29-76D6-E8E32B8444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460" y="697864"/>
            <a:ext cx="10459610" cy="5647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SICR-Based Classification Framework</a:t>
            </a: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SICR Triggers (Configurable):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DPD Thresholds: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30+ days past due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PD Deterioration: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20%+ increase in 12m PD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Forbearance: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Modified terms granted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Watchlist Status: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Internal risk rating downgrade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Covenant Breaches: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Technical defaults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External Ratings: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Downgrade below investment grade</a:t>
            </a: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F71BCE2-85BF-84F0-E283-07E88DCE17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4465655"/>
              </p:ext>
            </p:extLst>
          </p:nvPr>
        </p:nvGraphicFramePr>
        <p:xfrm>
          <a:off x="684847" y="1135591"/>
          <a:ext cx="7378065" cy="20631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259">
                  <a:extLst>
                    <a:ext uri="{9D8B030D-6E8A-4147-A177-3AD203B41FA5}">
                      <a16:colId xmlns:a16="http://schemas.microsoft.com/office/drawing/2014/main" val="623636926"/>
                    </a:ext>
                  </a:extLst>
                </a:gridCol>
                <a:gridCol w="2583231">
                  <a:extLst>
                    <a:ext uri="{9D8B030D-6E8A-4147-A177-3AD203B41FA5}">
                      <a16:colId xmlns:a16="http://schemas.microsoft.com/office/drawing/2014/main" val="2071315243"/>
                    </a:ext>
                  </a:extLst>
                </a:gridCol>
                <a:gridCol w="2130950">
                  <a:extLst>
                    <a:ext uri="{9D8B030D-6E8A-4147-A177-3AD203B41FA5}">
                      <a16:colId xmlns:a16="http://schemas.microsoft.com/office/drawing/2014/main" val="2966817886"/>
                    </a:ext>
                  </a:extLst>
                </a:gridCol>
                <a:gridCol w="1741625">
                  <a:extLst>
                    <a:ext uri="{9D8B030D-6E8A-4147-A177-3AD203B41FA5}">
                      <a16:colId xmlns:a16="http://schemas.microsoft.com/office/drawing/2014/main" val="579745184"/>
                    </a:ext>
                  </a:extLst>
                </a:gridCol>
              </a:tblGrid>
              <a:tr h="300847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Criteria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ECL Calculation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Portfolio 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8421456"/>
                  </a:ext>
                </a:extLst>
              </a:tr>
              <a:tr h="511440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Stage 1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Performing loans</a:t>
                      </a:r>
                      <a:b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No SICR triggers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12-month ECL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85-95%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6140347"/>
                  </a:ext>
                </a:extLst>
              </a:tr>
              <a:tr h="511440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Stage 2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Significant credit risk increase</a:t>
                      </a:r>
                      <a:b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(SICR identified)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Lifetime ECL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5-12%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5846614"/>
                  </a:ext>
                </a:extLst>
              </a:tr>
              <a:tr h="722033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Stage 3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Credit-impaired</a:t>
                      </a:r>
                      <a:b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Objective evidence of loss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Lifetime ECL</a:t>
                      </a:r>
                      <a:b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Discounted recoveries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1-3%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0687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35366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E053B-9AEC-1B80-57D1-26AA416273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880" y="98425"/>
            <a:ext cx="2636520" cy="389255"/>
          </a:xfrm>
        </p:spPr>
        <p:txBody>
          <a:bodyPr>
            <a:normAutofit/>
          </a:bodyPr>
          <a:lstStyle/>
          <a:p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Lifetime PD Modeling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74DB7E-EF7A-0D48-747D-8FB55187E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460" y="697864"/>
            <a:ext cx="10459610" cy="5647277"/>
          </a:xfrm>
          <a:ln>
            <a:solidFill>
              <a:schemeClr val="accent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Methodology: From 12-month to Lifetime Projections</a:t>
            </a: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1: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Convert 12-month PD → Monthly hazard rate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2: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Project over remaining loan term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3: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Apply scenario multipliers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4: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Calculate cumulative lifetime PD</a:t>
            </a: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PD Projection Example: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Loan: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5-year term, 36 months remaining, Base PD: 2.5%</a:t>
            </a:r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852A2A76-F9F5-F751-5E41-D38E489D3B7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44745742"/>
              </p:ext>
            </p:extLst>
          </p:nvPr>
        </p:nvGraphicFramePr>
        <p:xfrm>
          <a:off x="724066" y="3778785"/>
          <a:ext cx="6432108" cy="1256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027">
                  <a:extLst>
                    <a:ext uri="{9D8B030D-6E8A-4147-A177-3AD203B41FA5}">
                      <a16:colId xmlns:a16="http://schemas.microsoft.com/office/drawing/2014/main" val="1210547832"/>
                    </a:ext>
                  </a:extLst>
                </a:gridCol>
                <a:gridCol w="1608027">
                  <a:extLst>
                    <a:ext uri="{9D8B030D-6E8A-4147-A177-3AD203B41FA5}">
                      <a16:colId xmlns:a16="http://schemas.microsoft.com/office/drawing/2014/main" val="2838496487"/>
                    </a:ext>
                  </a:extLst>
                </a:gridCol>
                <a:gridCol w="1608027">
                  <a:extLst>
                    <a:ext uri="{9D8B030D-6E8A-4147-A177-3AD203B41FA5}">
                      <a16:colId xmlns:a16="http://schemas.microsoft.com/office/drawing/2014/main" val="568776226"/>
                    </a:ext>
                  </a:extLst>
                </a:gridCol>
                <a:gridCol w="1608027">
                  <a:extLst>
                    <a:ext uri="{9D8B030D-6E8A-4147-A177-3AD203B41FA5}">
                      <a16:colId xmlns:a16="http://schemas.microsoft.com/office/drawing/2014/main" val="2761267175"/>
                    </a:ext>
                  </a:extLst>
                </a:gridCol>
              </a:tblGrid>
              <a:tr h="314134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Upside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Downside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4787109"/>
                  </a:ext>
                </a:extLst>
              </a:tr>
              <a:tr h="314134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2.00%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3.25%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736388"/>
                  </a:ext>
                </a:extLst>
              </a:tr>
              <a:tr h="314134">
                <a:tc>
                  <a:txBody>
                    <a:bodyPr/>
                    <a:lstStyle/>
                    <a:p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4.85%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3.88%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6.30%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9045037"/>
                  </a:ext>
                </a:extLst>
              </a:tr>
              <a:tr h="314134">
                <a:tc>
                  <a:txBody>
                    <a:bodyPr/>
                    <a:lstStyle/>
                    <a:p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36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7.05%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5.64%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9.17%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2328021"/>
                  </a:ext>
                </a:extLst>
              </a:tr>
            </a:tbl>
          </a:graphicData>
        </a:graphic>
      </p:graphicFrame>
      <p:graphicFrame>
        <p:nvGraphicFramePr>
          <p:cNvPr id="15" name="Chart 14">
            <a:extLst>
              <a:ext uri="{FF2B5EF4-FFF2-40B4-BE49-F238E27FC236}">
                <a16:creationId xmlns:a16="http://schemas.microsoft.com/office/drawing/2014/main" id="{B725FC35-11FA-3F79-ED50-AC3B9C0467B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78980250"/>
              </p:ext>
            </p:extLst>
          </p:nvPr>
        </p:nvGraphicFramePr>
        <p:xfrm>
          <a:off x="6635529" y="1091957"/>
          <a:ext cx="4647372" cy="24766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611987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05171-7B2E-E4F1-D965-7255E97D0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822E9-C7CC-9E8F-F6C1-EF0C875C4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9539" y="234540"/>
            <a:ext cx="2636520" cy="389255"/>
          </a:xfrm>
        </p:spPr>
        <p:txBody>
          <a:bodyPr>
            <a:noAutofit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Cashflow-Based LGD</a:t>
            </a:r>
            <a:b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F9AC99-E3A4-ABF2-432A-2E8EF3E9D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460" y="697864"/>
            <a:ext cx="10515600" cy="549719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Regulator-Preferred Methodology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 vs. Cashflow Approach</a:t>
            </a: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Calculation Formula: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  	  </a:t>
            </a:r>
            <a:r>
              <a:rPr lang="en-US" sz="1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 Calculation: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LGD = 1 - [PV(Recoveries) / EAD]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Where: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PV(Recoveries) = Σ [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Recovery_t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(1 + r)^t]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EAD = Exposure at Default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 = Effective Interest Rate (EIR)</a:t>
            </a:r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6971DCDE-6EFD-BF26-0E16-7C4C04A156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76292999"/>
              </p:ext>
            </p:extLst>
          </p:nvPr>
        </p:nvGraphicFramePr>
        <p:xfrm>
          <a:off x="756699" y="1564101"/>
          <a:ext cx="6797039" cy="9424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9748">
                  <a:extLst>
                    <a:ext uri="{9D8B030D-6E8A-4147-A177-3AD203B41FA5}">
                      <a16:colId xmlns:a16="http://schemas.microsoft.com/office/drawing/2014/main" val="1210547832"/>
                    </a:ext>
                  </a:extLst>
                </a:gridCol>
                <a:gridCol w="2549052">
                  <a:extLst>
                    <a:ext uri="{9D8B030D-6E8A-4147-A177-3AD203B41FA5}">
                      <a16:colId xmlns:a16="http://schemas.microsoft.com/office/drawing/2014/main" val="2838496487"/>
                    </a:ext>
                  </a:extLst>
                </a:gridCol>
                <a:gridCol w="2188239">
                  <a:extLst>
                    <a:ext uri="{9D8B030D-6E8A-4147-A177-3AD203B41FA5}">
                      <a16:colId xmlns:a16="http://schemas.microsoft.com/office/drawing/2014/main" val="568776226"/>
                    </a:ext>
                  </a:extLst>
                </a:gridCol>
              </a:tblGrid>
              <a:tr h="314134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Calculation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Regulator View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4787109"/>
                  </a:ext>
                </a:extLst>
              </a:tr>
              <a:tr h="314134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Static LGD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Historical average 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Less preferred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736388"/>
                  </a:ext>
                </a:extLst>
              </a:tr>
              <a:tr h="314134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Cashflow LGD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Discounted recovery projections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Gold Standard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9045037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9CAEA43-E46C-A755-10EE-884E423031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6040663"/>
              </p:ext>
            </p:extLst>
          </p:nvPr>
        </p:nvGraphicFramePr>
        <p:xfrm>
          <a:off x="4485640" y="3576766"/>
          <a:ext cx="649478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956">
                  <a:extLst>
                    <a:ext uri="{9D8B030D-6E8A-4147-A177-3AD203B41FA5}">
                      <a16:colId xmlns:a16="http://schemas.microsoft.com/office/drawing/2014/main" val="3399638827"/>
                    </a:ext>
                  </a:extLst>
                </a:gridCol>
                <a:gridCol w="1298956">
                  <a:extLst>
                    <a:ext uri="{9D8B030D-6E8A-4147-A177-3AD203B41FA5}">
                      <a16:colId xmlns:a16="http://schemas.microsoft.com/office/drawing/2014/main" val="609558451"/>
                    </a:ext>
                  </a:extLst>
                </a:gridCol>
                <a:gridCol w="1298956">
                  <a:extLst>
                    <a:ext uri="{9D8B030D-6E8A-4147-A177-3AD203B41FA5}">
                      <a16:colId xmlns:a16="http://schemas.microsoft.com/office/drawing/2014/main" val="3568357962"/>
                    </a:ext>
                  </a:extLst>
                </a:gridCol>
                <a:gridCol w="1298956">
                  <a:extLst>
                    <a:ext uri="{9D8B030D-6E8A-4147-A177-3AD203B41FA5}">
                      <a16:colId xmlns:a16="http://schemas.microsoft.com/office/drawing/2014/main" val="253138140"/>
                    </a:ext>
                  </a:extLst>
                </a:gridCol>
                <a:gridCol w="1298956">
                  <a:extLst>
                    <a:ext uri="{9D8B030D-6E8A-4147-A177-3AD203B41FA5}">
                      <a16:colId xmlns:a16="http://schemas.microsoft.com/office/drawing/2014/main" val="21613916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Loan Type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EAD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Collateral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Recovery PV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LGD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00781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Mortgage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$500,000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$400,000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$380,000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24.0%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90908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Auto Loan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$50,000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$30,000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$28,500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43.0%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98398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Unsecured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$25,000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$5,000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80.0%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93228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36262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71DA4-6142-BBA7-32B6-2A7BA1971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A2056-3557-7901-4F86-19DF275FA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880" y="177164"/>
            <a:ext cx="3276600" cy="389255"/>
          </a:xfrm>
        </p:spPr>
        <p:txBody>
          <a:bodyPr>
            <a:noAutofit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Scenario Weighting &amp; ECL</a:t>
            </a:r>
            <a:b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99BBF1-391D-659C-D16D-142BE25CAE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5652" y="468297"/>
            <a:ext cx="8854109" cy="638778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Comprehensive Stress Testing Framework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Regulatory Requirement: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forward-looking scenarios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Probability-weighted outcomes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Documented rationale for weights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Scenario Framework:</a:t>
            </a: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ECL Calculation Example: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Portfolio: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$100M corporate loans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Average PD: 3% | Average LGD: 45%</a:t>
            </a: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Total Weighted ECL: $1.43M (1.43% of portfolio)</a:t>
            </a: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31F8340-399B-6779-5C2B-3668A8BD9F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8792302"/>
              </p:ext>
            </p:extLst>
          </p:nvPr>
        </p:nvGraphicFramePr>
        <p:xfrm>
          <a:off x="934720" y="2153920"/>
          <a:ext cx="5351780" cy="1275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945">
                  <a:extLst>
                    <a:ext uri="{9D8B030D-6E8A-4147-A177-3AD203B41FA5}">
                      <a16:colId xmlns:a16="http://schemas.microsoft.com/office/drawing/2014/main" val="4198400171"/>
                    </a:ext>
                  </a:extLst>
                </a:gridCol>
                <a:gridCol w="1337945">
                  <a:extLst>
                    <a:ext uri="{9D8B030D-6E8A-4147-A177-3AD203B41FA5}">
                      <a16:colId xmlns:a16="http://schemas.microsoft.com/office/drawing/2014/main" val="1759907153"/>
                    </a:ext>
                  </a:extLst>
                </a:gridCol>
                <a:gridCol w="1337945">
                  <a:extLst>
                    <a:ext uri="{9D8B030D-6E8A-4147-A177-3AD203B41FA5}">
                      <a16:colId xmlns:a16="http://schemas.microsoft.com/office/drawing/2014/main" val="3957911251"/>
                    </a:ext>
                  </a:extLst>
                </a:gridCol>
                <a:gridCol w="1337945">
                  <a:extLst>
                    <a:ext uri="{9D8B030D-6E8A-4147-A177-3AD203B41FA5}">
                      <a16:colId xmlns:a16="http://schemas.microsoft.com/office/drawing/2014/main" val="2621290961"/>
                    </a:ext>
                  </a:extLst>
                </a:gridCol>
              </a:tblGrid>
              <a:tr h="318770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Scenario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Probability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PD Multiplier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LGD Impact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0839998"/>
                  </a:ext>
                </a:extLst>
              </a:tr>
              <a:tr h="318770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Base Case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50%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1.0x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+0%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6232405"/>
                  </a:ext>
                </a:extLst>
              </a:tr>
              <a:tr h="318770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Upside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0.8x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-5%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3319010"/>
                  </a:ext>
                </a:extLst>
              </a:tr>
              <a:tr h="318770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Downside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1.3x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+15%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31209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3465165-4444-B206-6F56-CE531B1983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5869620"/>
              </p:ext>
            </p:extLst>
          </p:nvPr>
        </p:nvGraphicFramePr>
        <p:xfrm>
          <a:off x="934720" y="4856830"/>
          <a:ext cx="6068059" cy="1261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2309">
                  <a:extLst>
                    <a:ext uri="{9D8B030D-6E8A-4147-A177-3AD203B41FA5}">
                      <a16:colId xmlns:a16="http://schemas.microsoft.com/office/drawing/2014/main" val="1293333411"/>
                    </a:ext>
                  </a:extLst>
                </a:gridCol>
                <a:gridCol w="1162309">
                  <a:extLst>
                    <a:ext uri="{9D8B030D-6E8A-4147-A177-3AD203B41FA5}">
                      <a16:colId xmlns:a16="http://schemas.microsoft.com/office/drawing/2014/main" val="3260991840"/>
                    </a:ext>
                  </a:extLst>
                </a:gridCol>
                <a:gridCol w="1162309">
                  <a:extLst>
                    <a:ext uri="{9D8B030D-6E8A-4147-A177-3AD203B41FA5}">
                      <a16:colId xmlns:a16="http://schemas.microsoft.com/office/drawing/2014/main" val="1589765232"/>
                    </a:ext>
                  </a:extLst>
                </a:gridCol>
                <a:gridCol w="1497156">
                  <a:extLst>
                    <a:ext uri="{9D8B030D-6E8A-4147-A177-3AD203B41FA5}">
                      <a16:colId xmlns:a16="http://schemas.microsoft.com/office/drawing/2014/main" val="2609235432"/>
                    </a:ext>
                  </a:extLst>
                </a:gridCol>
                <a:gridCol w="1083976">
                  <a:extLst>
                    <a:ext uri="{9D8B030D-6E8A-4147-A177-3AD203B41FA5}">
                      <a16:colId xmlns:a16="http://schemas.microsoft.com/office/drawing/2014/main" val="169659808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Weighted ECL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Cumulative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9610981"/>
                  </a:ext>
                </a:extLst>
              </a:tr>
              <a:tr h="31877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$1.35M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$0.68M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$0.68M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0761986"/>
                  </a:ext>
                </a:extLst>
              </a:tr>
              <a:tr h="31877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Upside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$1.08M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$0.22M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$0.90M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9439231"/>
                  </a:ext>
                </a:extLst>
              </a:tr>
              <a:tr h="31877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Downside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$ 1.76M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$0.53M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$1.43M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3550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25748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BB08C-8D8A-07D1-6EC3-32BE99719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3B48C-103E-2227-C955-788541E239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880" y="98425"/>
            <a:ext cx="3497580" cy="389255"/>
          </a:xfrm>
        </p:spPr>
        <p:txBody>
          <a:bodyPr>
            <a:normAutofit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Architecture &amp; Integration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F1F3E6-C146-6211-23CA-CFB8BE30C3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5827" y="630872"/>
            <a:ext cx="3360420" cy="5596255"/>
          </a:xfrm>
        </p:spPr>
        <p:txBody>
          <a:bodyPr>
            <a:normAutofit/>
          </a:bodyPr>
          <a:lstStyle/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Orchestrator Layer</a:t>
            </a:r>
          </a:p>
          <a:p>
            <a:pPr marL="457200" lvl="1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Apache Airflow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Monthly ECL Calculation DAGs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Scheduling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Error handling &amp; Alerts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Calculation Engine</a:t>
            </a:r>
          </a:p>
          <a:p>
            <a:pPr marL="457200" lvl="1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+ Docker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PD/LGD/ECL models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Scenario management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Audit logging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Layer</a:t>
            </a:r>
          </a:p>
          <a:p>
            <a:pPr marL="457200" lvl="1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SQL Database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Input: Loan Portfolio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Output: ECL Results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Archive: Historical Data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Consumption Layer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Finance GL Systems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Regulatory Reports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Management Dashboards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External Auditors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7EF2D7-296E-11C8-C3E4-603F91FAD0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375" y="669686"/>
            <a:ext cx="6842760" cy="5518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5589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81F96-96C5-06EB-4A56-BC7B7AF22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46875" y="92005"/>
            <a:ext cx="2048123" cy="485665"/>
          </a:xfrm>
        </p:spPr>
        <p:txBody>
          <a:bodyPr>
            <a:normAutofit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Deployment Time</a:t>
            </a:r>
          </a:p>
        </p:txBody>
      </p:sp>
      <p:graphicFrame>
        <p:nvGraphicFramePr>
          <p:cNvPr id="13" name="Content Placeholder 12">
            <a:extLst>
              <a:ext uri="{FF2B5EF4-FFF2-40B4-BE49-F238E27FC236}">
                <a16:creationId xmlns:a16="http://schemas.microsoft.com/office/drawing/2014/main" id="{7D03146F-BD3B-B678-EE41-588B620D44C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1976684"/>
              </p:ext>
            </p:extLst>
          </p:nvPr>
        </p:nvGraphicFramePr>
        <p:xfrm>
          <a:off x="838200" y="1102056"/>
          <a:ext cx="10515600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1349695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24339085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04857060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9049395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Week 1 Pilot &amp; 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Week 2 </a:t>
                      </a:r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Validation &amp; Calibration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Week 3 Integration</a:t>
                      </a:r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&amp; 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Week 4: Go-Live &amp; Training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85627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Data extraction (sample portfolio)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Output validation vs. current process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Production data integration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Production deployment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4487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Environment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PD/LGD calibration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End-to-end testing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User training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16449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Initial 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Scenario 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User acceptance testing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Documentation handover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2155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First test run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Regulatory alignment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Performance optimization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Support transition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19894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38984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CD45C-88D2-0D6E-00AA-59FB3B9EE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0765" y="2249584"/>
            <a:ext cx="5033176" cy="1325563"/>
          </a:xfrm>
        </p:spPr>
        <p:txBody>
          <a:bodyPr>
            <a:norm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Thank you</a:t>
            </a:r>
          </a:p>
        </p:txBody>
      </p:sp>
    </p:spTree>
    <p:extLst>
      <p:ext uri="{BB962C8B-B14F-4D97-AF65-F5344CB8AC3E}">
        <p14:creationId xmlns:p14="http://schemas.microsoft.com/office/powerpoint/2010/main" val="1289175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197</TotalTime>
  <Words>880</Words>
  <Application>Microsoft Office PowerPoint</Application>
  <PresentationFormat>Widescreen</PresentationFormat>
  <Paragraphs>266</Paragraphs>
  <Slides>12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Arial</vt:lpstr>
      <vt:lpstr>Times New Roman</vt:lpstr>
      <vt:lpstr>Wingdings</vt:lpstr>
      <vt:lpstr>Office Theme</vt:lpstr>
      <vt:lpstr>Transforming IFRS 9 Compliance: A streamlined ECL Engine Solution        Compliant, Auditable, Deployable  • Lifetime PD • Cashflow LGD  • Stage 3 ECL  • Scenario-Weighted    </vt:lpstr>
      <vt:lpstr>Executive Summary</vt:lpstr>
      <vt:lpstr>Problem Statement - Current Challenges in IFRS 9 Compliance</vt:lpstr>
      <vt:lpstr>Our Solution IFRS 9 Engine – Complete Compliance Platform</vt:lpstr>
      <vt:lpstr>How it Works</vt:lpstr>
      <vt:lpstr>Stage Allocation Logic</vt:lpstr>
      <vt:lpstr>Lifetime PD Modeling</vt:lpstr>
      <vt:lpstr>Cashflow-Based LGD </vt:lpstr>
      <vt:lpstr>Scenario Weighting &amp; ECL </vt:lpstr>
      <vt:lpstr>Architecture &amp; Integration</vt:lpstr>
      <vt:lpstr>Deployment Time</vt:lpstr>
      <vt:lpstr>  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IT</dc:creator>
  <cp:lastModifiedBy>IT</cp:lastModifiedBy>
  <cp:revision>378</cp:revision>
  <dcterms:created xsi:type="dcterms:W3CDTF">2026-01-30T09:13:36Z</dcterms:created>
  <dcterms:modified xsi:type="dcterms:W3CDTF">2026-01-31T03:38:31Z</dcterms:modified>
</cp:coreProperties>
</file>