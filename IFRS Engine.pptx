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4"/>
  </p:notesMasterIdLst>
  <p:sldIdLst>
    <p:sldId id="262" r:id="rId2"/>
    <p:sldId id="274" r:id="rId3"/>
    <p:sldId id="263" r:id="rId4"/>
    <p:sldId id="264" r:id="rId5"/>
    <p:sldId id="273" r:id="rId6"/>
    <p:sldId id="272" r:id="rId7"/>
    <p:sldId id="266" r:id="rId8"/>
    <p:sldId id="267" r:id="rId9"/>
    <p:sldId id="268" r:id="rId10"/>
    <p:sldId id="269" r:id="rId11"/>
    <p:sldId id="271" r:id="rId12"/>
    <p:sldId id="270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80" autoAdjust="0"/>
    <p:restoredTop sz="94660"/>
  </p:normalViewPr>
  <p:slideViewPr>
    <p:cSldViewPr snapToGrid="0">
      <p:cViewPr varScale="1">
        <p:scale>
          <a:sx n="120" d="100"/>
          <a:sy n="120" d="100"/>
        </p:scale>
        <p:origin x="120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8696E82-1ECA-4532-8914-5E420A0E6E70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5434285-5C58-47ED-8929-1A69805FB5F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627769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3A6455-0C33-DC12-4AE9-FE8A4C9767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D5932F9-A0C1-AB36-AC0A-96D6815F93C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EF8CCA6D-0657-08E1-26A8-920CB23A620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3B8BA1-4D2B-5773-7D07-A2E12C12F3D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434285-5C58-47ED-8929-1A69805FB5FA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7790845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7579CC-CAB4-5CBC-9717-480FE4612E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1E9511B-671D-E246-AE34-B8D17238071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02A6AE1-9E87-7425-AA4B-538EF851376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90ED5AC-1FA4-AFE0-BF20-FD9924F322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434285-5C58-47ED-8929-1A69805FB5FA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3678466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5434285-5C58-47ED-8929-1A69805FB5FA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9324937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0A4204-798D-DB82-0120-227189B849F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BFE1DE3B-328E-2DB0-84E7-17B57BFC1C1A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1A99708-83E7-BCD9-3C4E-F887CF3E16D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46FD0BF-B47C-7D09-0853-99182F26C4F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7EECE01-AA8F-1331-BFFE-635C1B96AF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76247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316AA3E-1E38-179E-1AA1-C14BA13C1A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E525E2E-A2C7-9B8A-9D7D-20278051685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D930E04-8B9B-4120-D01B-C5B325FC84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313D52D-581C-C659-59C1-A508F3FDB3A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8A4A87-5713-2687-26CB-AC0701D8A87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20076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5E8E9F-46A6-4DFD-A7E6-6BD3C57A830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4E3B0DE-BC34-8706-94EE-B0B5F89879B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5E1696B-24DE-E806-ACE1-F4333575F0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BFD5DF7-C4D4-D8F6-6594-D8C3E66069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7FBE870-1BC5-33C8-C9BB-A22C6166FB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5762713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06684A-7F8D-AD01-883A-B9DC8FE83B4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8F8E6B1-7E78-E00A-66EE-4A45863245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7464D8F-2F3F-BC67-E791-8919A3C301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A174370-C8FF-1B58-70B5-C6D8AF81E87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4AC57A5-0F14-0052-248D-7B1152E7A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07123AA8-3806-FFE3-2B7B-ADC3978F1F5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426849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4A6F775-09D4-CE2B-78C3-D3B962238D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2BBE26E-470F-261F-C2C1-08F95D3FE47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2D9EC9F-0A1B-FCD9-9137-618FD79A2EA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E3780A62-0202-1F15-28BA-47B89AE2B12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A9A6877-A6BD-D7B8-B4C5-2C0DA715031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DBB9E01-EEC6-4D04-50F0-9C9DBCD34A5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1B38F436-1FB3-4EEA-6ACA-ED642ED73BC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0D67AEB1-11B6-4EC0-7FF8-7FA7922E59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40107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FC873BB-54FA-CCD6-741F-BD86FA53B56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29846226-BE2D-84E0-FF72-F5FC1EFD1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C770E84-131F-C78D-3642-24709847DD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67E5ED3-7E4D-E07B-A3A7-19D8AD885C0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210018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5D564AF-9175-C959-9EF4-28D89D061FF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015172B-1775-D69C-0AFE-C2BF4DC69D2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BB4A462-899E-9289-619E-D75CB08D7F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9736603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F195210-E4EC-4708-EE9D-78793A7C45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EAE841E-B9A0-6F36-1D84-B0D8C607FBB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3555FFE-8265-B49F-C018-641F05448D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602F540-18BC-E555-776A-C8538DDA42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9E53B5BF-EBAA-DCFC-C57D-390C542409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D5F8845-1B27-5EF2-B1C2-9B1EFC31C5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9434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69D6989-3016-9EE3-900C-688D3CF8C5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E6876E-C427-04AA-169A-B6DFC261001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7BA9153-1501-97AC-D797-A0CF02B154A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9EC3A27-88AE-8193-E466-EA71824E8E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E70CD494-D224-8C70-810C-2C9A4AE08E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4DC2C8E-8726-9E75-DB0B-A85B7B03E8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5296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2C01C9-0167-A4CA-8515-7CA719EC4D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4B54FA4-E021-D283-0AAE-68761812E2F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73A4CC6-32D7-6AE7-0325-C8A1850796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CC65354-36F1-C6A2-58A3-D5BA15E729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6D73320-5351-1B8C-04A1-A22118BC97A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044304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2F1244DE-C92B-8784-4185-65CD8B69BA5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F56FBAD-0022-66F5-7254-4BE091CE8D5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424D059-65A9-F255-5689-E73F24216C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C648C7-5DB4-FB00-F7F8-EA546CC2199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E9E1F0B-8E45-A281-AE04-A5661526FB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03906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gradFill flip="none" rotWithShape="1">
          <a:gsLst>
            <a:gs pos="0">
              <a:schemeClr val="accent1">
                <a:lumMod val="5000"/>
                <a:lumOff val="95000"/>
              </a:schemeClr>
            </a:gs>
            <a:gs pos="74000">
              <a:schemeClr val="accent1">
                <a:lumMod val="45000"/>
                <a:lumOff val="55000"/>
              </a:schemeClr>
            </a:gs>
            <a:gs pos="83000">
              <a:schemeClr val="accent1">
                <a:lumMod val="45000"/>
                <a:lumOff val="55000"/>
              </a:schemeClr>
            </a:gs>
            <a:gs pos="100000">
              <a:schemeClr val="accent1">
                <a:lumMod val="30000"/>
                <a:lumOff val="70000"/>
              </a:schemeClr>
            </a:gs>
          </a:gsLst>
          <a:lin ang="2700000" scaled="1"/>
          <a:tileRect/>
        </a:gra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A4C3DD30-DB58-FA53-715A-C032B4AEBD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E295B25-1CD5-B760-DC90-049BBD954DE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13CBDB-5172-580D-95B1-5887B43A8ABC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49A57F5-22E1-475F-A2EB-0BB6F040A9E1}" type="datetimeFigureOut">
              <a:rPr lang="en-US" smtClean="0"/>
              <a:t>1/31/2026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7173303-626A-C7BB-E4D8-F86D185C381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15ECA4C-1EBD-8ECB-0B94-9B24B24018A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A7888AA4-E49D-47CE-9756-6D4B6F13DA9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208513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75B7890-4030-AB44-7E87-558623AE34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66407" y="1755971"/>
            <a:ext cx="9947082" cy="3050697"/>
          </a:xfrm>
        </p:spPr>
        <p:txBody>
          <a:bodyPr>
            <a:no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Transforming IFRS 9 Compliance: A streamlined ECL Engine Solution</a:t>
            </a:r>
            <a:b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				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Compliant, Auditable, Deployable</a:t>
            </a:r>
            <a:b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</a:t>
            </a: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Lifetime PD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Cashflow LGD 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Stage 3 ECL </a:t>
            </a:r>
            <a:b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Scenario-Weighted</a:t>
            </a:r>
            <a:b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58F72D7-A1C0-66EB-A199-3E985F6A539D}"/>
              </a:ext>
            </a:extLst>
          </p:cNvPr>
          <p:cNvSpPr txBox="1"/>
          <p:nvPr/>
        </p:nvSpPr>
        <p:spPr>
          <a:xfrm>
            <a:off x="9309219" y="5510746"/>
            <a:ext cx="239354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b="1" dirty="0"/>
              <a:t>Kore Sampath Kumar</a:t>
            </a:r>
          </a:p>
        </p:txBody>
      </p:sp>
    </p:spTree>
    <p:extLst>
      <p:ext uri="{BB962C8B-B14F-4D97-AF65-F5344CB8AC3E}">
        <p14:creationId xmlns:p14="http://schemas.microsoft.com/office/powerpoint/2010/main" val="38598406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DF455B-58AD-55CA-711C-F8DE11C55E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58C8FC6-A552-952B-E511-18FFF995EE0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48150" y="445273"/>
            <a:ext cx="3695700" cy="274155"/>
          </a:xfrm>
        </p:spPr>
        <p:txBody>
          <a:bodyPr>
            <a:no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Executive Summary</a:t>
            </a:r>
            <a:b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A96717F-87C5-2FEE-CB77-482E9FD0356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7369" y="887038"/>
            <a:ext cx="10515600" cy="4710679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IFRS 9 compliance is mandatory for expected credit loss (ECL) reporting Manual/semi-automated processes are slow, error-prone, and difficult to audit</a:t>
            </a: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IFRS 9 Engine provides: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✓ Stage-aware PD &amp; ECL calculation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✓ Cashflow-based LGD modeling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✓ Stage 3 discounted recoveries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✓ Scenario-weighted outputs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✓ SQL &amp; Airflow integration</a:t>
            </a: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Key Benefits: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Reduce month-end close from days to hours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Eliminate audit findings and regulator challenges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Enable dynamic stress testing capabilities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Transparent, auditable methodology</a:t>
            </a:r>
          </a:p>
        </p:txBody>
      </p:sp>
    </p:spTree>
    <p:extLst>
      <p:ext uri="{BB962C8B-B14F-4D97-AF65-F5344CB8AC3E}">
        <p14:creationId xmlns:p14="http://schemas.microsoft.com/office/powerpoint/2010/main" val="85644206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233830-AED4-4EBB-5DEA-0D2566E5FB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7059" y="277910"/>
            <a:ext cx="2109746" cy="315912"/>
          </a:xfrm>
        </p:spPr>
        <p:txBody>
          <a:bodyPr>
            <a:normAutofit fontScale="90000"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Problem Statement</a:t>
            </a:r>
            <a:b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DA40505-EB46-FA0B-2AED-47929C26C57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7712" y="800238"/>
            <a:ext cx="10515600" cy="5131224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Current Challenges in IFRS 9 Compliance: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Operational Inefficiency: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Excel-based calculations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Manual errors, version control issues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Slow reporting cycles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5-10 day month-end close process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Limited scenario analysis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Inadequate stress testing for regulators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Compliance Risk: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Opaque methodologies – Difficult audit defense, long review cycles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Model risk – Unvalidated assumptions, inconsistent calculations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Financial Impact: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High consultancy costs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$500K+ annually for external support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Regulatory penalties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Potential fines for non-compliance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Missed insights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– Limited ability to optimize provisioning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Result: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Regulatory risk, operational inefficiency, and financial waste</a:t>
            </a:r>
          </a:p>
          <a:p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2626607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D3E54E-05B5-88E9-4DF5-14BCC16AAA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5000" y="119062"/>
            <a:ext cx="5555146" cy="581025"/>
          </a:xfrm>
        </p:spPr>
        <p:txBody>
          <a:bodyPr>
            <a:normAutofit fontScale="90000"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Our Solution IFRS 9 Engine – Complete Compliance Platform</a:t>
            </a:r>
            <a:b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16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454731F-FEBA-7B96-EEC1-52EC5F7C9D2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12743" y="766610"/>
            <a:ext cx="10515600" cy="5499018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Core Capabilities:</a:t>
            </a:r>
          </a:p>
          <a:p>
            <a:pPr marL="342900" indent="-342900">
              <a:buAutoNum type="arabicPeriod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Stage-Aware ECL Calculation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SICR detection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Lifetime PD for Stage 2+3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Cashflow-based LGD modeling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Discounted Stage 3 recoveries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2. Scenario Management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Base, upside, downside scenarios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Regulatory-prescribed weighting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Custom scenario creation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Sensitivity analysis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3. Automation &amp; Integration</a:t>
            </a: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SQL native connectivity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Airflow orchestration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Docker containerization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Audit trail generation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4. Deployment Options: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On-premise or cloud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4-week implementation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Pilot-to-production methodology</a:t>
            </a:r>
          </a:p>
          <a:p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69935230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57C7C3-5A44-A3BB-7FEE-226CA167F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EEE6CFD-F5BE-0CD4-54F8-CDA4EF72E2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880" y="98425"/>
            <a:ext cx="2636520" cy="389255"/>
          </a:xfrm>
        </p:spPr>
        <p:txBody>
          <a:bodyPr>
            <a:norm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How it Works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8652BD-B19B-9126-F2E6-5156093528B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8071" y="487680"/>
            <a:ext cx="10459610" cy="5647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End-to-End IFRS 9 Calculation Engine</a:t>
            </a: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" name="AutoShape 2">
            <a:extLst>
              <a:ext uri="{FF2B5EF4-FFF2-40B4-BE49-F238E27FC236}">
                <a16:creationId xmlns:a16="http://schemas.microsoft.com/office/drawing/2014/main" id="{AEE32B8E-9A3C-4BB4-4E1E-4C83D871C56E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5943600" y="3276600"/>
            <a:ext cx="304800" cy="304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n-US"/>
          </a:p>
        </p:txBody>
      </p:sp>
      <p:pic>
        <p:nvPicPr>
          <p:cNvPr id="11" name="Picture 10">
            <a:extLst>
              <a:ext uri="{FF2B5EF4-FFF2-40B4-BE49-F238E27FC236}">
                <a16:creationId xmlns:a16="http://schemas.microsoft.com/office/drawing/2014/main" id="{77189AC6-291A-5C7B-F9A6-5DF469E3E6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551105" y="876935"/>
            <a:ext cx="5079912" cy="58366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23605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1C7B057-8837-5269-486A-975FD320CFA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B797342-F03D-A024-6B34-6E528A30A7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880" y="98425"/>
            <a:ext cx="2636520" cy="389255"/>
          </a:xfrm>
        </p:spPr>
        <p:txBody>
          <a:bodyPr>
            <a:norm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Stage Allocation Logic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500D962-43B5-BC29-76D6-E8E32B84449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2460" y="697864"/>
            <a:ext cx="10459610" cy="5647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SICR-Based Classification Framework</a:t>
            </a: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SICR Triggers (Configurable):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DPD Thresholds: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30+ days past due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PD Deterioration: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20%+ increase in 12m PD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Forbearance: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Modified terms granted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Watchlist Status: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Internal risk rating downgrade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Covenant Breaches: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Technical defaults</a:t>
            </a:r>
          </a:p>
          <a:p>
            <a:pPr>
              <a:buFont typeface="Wingdings" panose="05000000000000000000" pitchFamily="2" charset="2"/>
              <a:buChar char="Ø"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External Ratings: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Downgrade below investment grade</a:t>
            </a: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AF71BCE2-85BF-84F0-E283-07E88DCE17E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31165686"/>
              </p:ext>
            </p:extLst>
          </p:nvPr>
        </p:nvGraphicFramePr>
        <p:xfrm>
          <a:off x="684847" y="1135591"/>
          <a:ext cx="7378065" cy="20726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22259">
                  <a:extLst>
                    <a:ext uri="{9D8B030D-6E8A-4147-A177-3AD203B41FA5}">
                      <a16:colId xmlns:a16="http://schemas.microsoft.com/office/drawing/2014/main" val="623636926"/>
                    </a:ext>
                  </a:extLst>
                </a:gridCol>
                <a:gridCol w="2351759">
                  <a:extLst>
                    <a:ext uri="{9D8B030D-6E8A-4147-A177-3AD203B41FA5}">
                      <a16:colId xmlns:a16="http://schemas.microsoft.com/office/drawing/2014/main" val="2071315243"/>
                    </a:ext>
                  </a:extLst>
                </a:gridCol>
                <a:gridCol w="1686002">
                  <a:extLst>
                    <a:ext uri="{9D8B030D-6E8A-4147-A177-3AD203B41FA5}">
                      <a16:colId xmlns:a16="http://schemas.microsoft.com/office/drawing/2014/main" val="2966817886"/>
                    </a:ext>
                  </a:extLst>
                </a:gridCol>
                <a:gridCol w="2418045">
                  <a:extLst>
                    <a:ext uri="{9D8B030D-6E8A-4147-A177-3AD203B41FA5}">
                      <a16:colId xmlns:a16="http://schemas.microsoft.com/office/drawing/2014/main" val="579745184"/>
                    </a:ext>
                  </a:extLst>
                </a:gridCol>
              </a:tblGrid>
              <a:tr h="300847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Stage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Criteria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ECL Calculation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Portfolio 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68421456"/>
                  </a:ext>
                </a:extLst>
              </a:tr>
              <a:tr h="511440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Stage 1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Performing loans</a:t>
                      </a:r>
                      <a:b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No SICR triggers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12-month ECL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85-95%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06140347"/>
                  </a:ext>
                </a:extLst>
              </a:tr>
              <a:tr h="511440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Stage 2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Significant credit risk increase</a:t>
                      </a:r>
                      <a:b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(SICR identified)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Lifetime ECL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5-12%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65846614"/>
                  </a:ext>
                </a:extLst>
              </a:tr>
              <a:tr h="722033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Stage 3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Credit-impaired</a:t>
                      </a:r>
                      <a:b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Objective evidence of loss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Lifetime ECL</a:t>
                      </a:r>
                      <a:b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</a:br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Discounted recoveries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1-3%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9068747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86353660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7BE053B-9AEC-1B80-57D1-26AA4162739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880" y="98425"/>
            <a:ext cx="2636520" cy="389255"/>
          </a:xfrm>
        </p:spPr>
        <p:txBody>
          <a:bodyPr>
            <a:norm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Lifetime PD Modeling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974DB7E-EF7A-0D48-747D-8FB55187E28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2460" y="697864"/>
            <a:ext cx="10459610" cy="5647277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Methodology: From 12-month to Lifetime Projections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1: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Convert 12-month PD → Monthly hazard rate</a:t>
            </a:r>
          </a:p>
          <a:p>
            <a:pPr marL="0" indent="0">
              <a:buNone/>
            </a:pPr>
            <a:b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2: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Project over remaining loan term</a:t>
            </a:r>
          </a:p>
          <a:p>
            <a:pPr marL="0" indent="0">
              <a:buNone/>
            </a:pPr>
            <a:b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3: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Apply scenario multipliers</a:t>
            </a:r>
          </a:p>
          <a:p>
            <a:pPr marL="0" indent="0">
              <a:buNone/>
            </a:pPr>
            <a:b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Step 4: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Calculate cumulative lifetime PD</a:t>
            </a: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PD Projection Example: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Loan: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5-year term, 36 months remaining, Base PD: 2.5%</a:t>
            </a:r>
          </a:p>
        </p:txBody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852A2A76-F9F5-F751-5E41-D38E489D3B7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1076966524"/>
              </p:ext>
            </p:extLst>
          </p:nvPr>
        </p:nvGraphicFramePr>
        <p:xfrm>
          <a:off x="923346" y="3866364"/>
          <a:ext cx="6758940" cy="157067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89735">
                  <a:extLst>
                    <a:ext uri="{9D8B030D-6E8A-4147-A177-3AD203B41FA5}">
                      <a16:colId xmlns:a16="http://schemas.microsoft.com/office/drawing/2014/main" val="1210547832"/>
                    </a:ext>
                  </a:extLst>
                </a:gridCol>
                <a:gridCol w="1689735">
                  <a:extLst>
                    <a:ext uri="{9D8B030D-6E8A-4147-A177-3AD203B41FA5}">
                      <a16:colId xmlns:a16="http://schemas.microsoft.com/office/drawing/2014/main" val="2838496487"/>
                    </a:ext>
                  </a:extLst>
                </a:gridCol>
                <a:gridCol w="1689735">
                  <a:extLst>
                    <a:ext uri="{9D8B030D-6E8A-4147-A177-3AD203B41FA5}">
                      <a16:colId xmlns:a16="http://schemas.microsoft.com/office/drawing/2014/main" val="568776226"/>
                    </a:ext>
                  </a:extLst>
                </a:gridCol>
                <a:gridCol w="1689735">
                  <a:extLst>
                    <a:ext uri="{9D8B030D-6E8A-4147-A177-3AD203B41FA5}">
                      <a16:colId xmlns:a16="http://schemas.microsoft.com/office/drawing/2014/main" val="2761267175"/>
                    </a:ext>
                  </a:extLst>
                </a:gridCol>
              </a:tblGrid>
              <a:tr h="314134">
                <a:tc>
                  <a:txBody>
                    <a:bodyPr/>
                    <a:lstStyle/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Weighted ECL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4787109"/>
                  </a:ext>
                </a:extLst>
              </a:tr>
              <a:tr h="314134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1.35M USD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0.68M USD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0736388"/>
                  </a:ext>
                </a:extLst>
              </a:tr>
              <a:tr h="314134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Upside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1.08M USD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0.22M USD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9045037"/>
                  </a:ext>
                </a:extLst>
              </a:tr>
              <a:tr h="314134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Downside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1.76M USD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0.53M USD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2328021"/>
                  </a:ext>
                </a:extLst>
              </a:tr>
              <a:tr h="314134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Total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100%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1.4M USD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121947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6119871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F105171-7B2E-E4F1-D965-7255E97D0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9822E9-C7CC-9E8F-F6C1-EF0C875C49A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29539" y="234540"/>
            <a:ext cx="2636520" cy="389255"/>
          </a:xfrm>
        </p:spPr>
        <p:txBody>
          <a:bodyPr>
            <a:no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Cashflow-Based LGD</a:t>
            </a:r>
            <a:b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0F9AC99-E3A4-ABF2-432A-2E8EF3E9D42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2460" y="697864"/>
            <a:ext cx="10515600" cy="5497195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Regulator-Preferred Methodology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Traditional vs. Cashflow Approach</a:t>
            </a: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Calculation Formula: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  	  </a:t>
            </a:r>
            <a:r>
              <a:rPr lang="en-US" sz="1400" b="1" u="sng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Example Calculation:</a:t>
            </a: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LGD = 1 - [PV(Recoveries) / EAD]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Where: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PV(Recoveries) = Σ [</a:t>
            </a:r>
            <a:r>
              <a:rPr lang="en-US" sz="14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Recovery_t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/ (1 + r)^t]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EAD = Exposure at Default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• r = Effective Interest Rate (EIR)</a:t>
            </a:r>
          </a:p>
        </p:txBody>
      </p:sp>
      <p:graphicFrame>
        <p:nvGraphicFramePr>
          <p:cNvPr id="7" name="Content Placeholder 3">
            <a:extLst>
              <a:ext uri="{FF2B5EF4-FFF2-40B4-BE49-F238E27FC236}">
                <a16:creationId xmlns:a16="http://schemas.microsoft.com/office/drawing/2014/main" id="{6971DCDE-6EFD-BF26-0E16-7C4C04A156CF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146130756"/>
              </p:ext>
            </p:extLst>
          </p:nvPr>
        </p:nvGraphicFramePr>
        <p:xfrm>
          <a:off x="756699" y="1564101"/>
          <a:ext cx="6309360" cy="114642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1210547832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2838496487"/>
                    </a:ext>
                  </a:extLst>
                </a:gridCol>
                <a:gridCol w="2103120">
                  <a:extLst>
                    <a:ext uri="{9D8B030D-6E8A-4147-A177-3AD203B41FA5}">
                      <a16:colId xmlns:a16="http://schemas.microsoft.com/office/drawing/2014/main" val="568776226"/>
                    </a:ext>
                  </a:extLst>
                </a:gridCol>
              </a:tblGrid>
              <a:tr h="314134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Method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Calculation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Regulator View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14787109"/>
                  </a:ext>
                </a:extLst>
              </a:tr>
              <a:tr h="314134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Static LGD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Historical average loss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Less preferred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10736388"/>
                  </a:ext>
                </a:extLst>
              </a:tr>
              <a:tr h="314134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Cashflow LGD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algn="l" defTabSz="914400" rtl="0" eaLnBrk="1" latinLnBrk="0" hangingPunct="1"/>
                      <a:r>
                        <a:rPr lang="en-US" sz="1400" kern="1200" dirty="0">
                          <a:solidFill>
                            <a:schemeClr val="dk1"/>
                          </a:solidFill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Discounted recovery projections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Gold Standard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689045037"/>
                  </a:ext>
                </a:extLst>
              </a:tr>
            </a:tbl>
          </a:graphicData>
        </a:graphic>
      </p:graphicFrame>
      <p:graphicFrame>
        <p:nvGraphicFramePr>
          <p:cNvPr id="8" name="Table 7">
            <a:extLst>
              <a:ext uri="{FF2B5EF4-FFF2-40B4-BE49-F238E27FC236}">
                <a16:creationId xmlns:a16="http://schemas.microsoft.com/office/drawing/2014/main" id="{C9CAEA43-E46C-A755-10EE-884E423031A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76040663"/>
              </p:ext>
            </p:extLst>
          </p:nvPr>
        </p:nvGraphicFramePr>
        <p:xfrm>
          <a:off x="4485640" y="3576766"/>
          <a:ext cx="649478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98956">
                  <a:extLst>
                    <a:ext uri="{9D8B030D-6E8A-4147-A177-3AD203B41FA5}">
                      <a16:colId xmlns:a16="http://schemas.microsoft.com/office/drawing/2014/main" val="3399638827"/>
                    </a:ext>
                  </a:extLst>
                </a:gridCol>
                <a:gridCol w="1298956">
                  <a:extLst>
                    <a:ext uri="{9D8B030D-6E8A-4147-A177-3AD203B41FA5}">
                      <a16:colId xmlns:a16="http://schemas.microsoft.com/office/drawing/2014/main" val="609558451"/>
                    </a:ext>
                  </a:extLst>
                </a:gridCol>
                <a:gridCol w="1298956">
                  <a:extLst>
                    <a:ext uri="{9D8B030D-6E8A-4147-A177-3AD203B41FA5}">
                      <a16:colId xmlns:a16="http://schemas.microsoft.com/office/drawing/2014/main" val="3568357962"/>
                    </a:ext>
                  </a:extLst>
                </a:gridCol>
                <a:gridCol w="1298956">
                  <a:extLst>
                    <a:ext uri="{9D8B030D-6E8A-4147-A177-3AD203B41FA5}">
                      <a16:colId xmlns:a16="http://schemas.microsoft.com/office/drawing/2014/main" val="253138140"/>
                    </a:ext>
                  </a:extLst>
                </a:gridCol>
                <a:gridCol w="1298956">
                  <a:extLst>
                    <a:ext uri="{9D8B030D-6E8A-4147-A177-3AD203B41FA5}">
                      <a16:colId xmlns:a16="http://schemas.microsoft.com/office/drawing/2014/main" val="216139163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Loan Type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EAD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Collateral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Recovery PV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LGD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74007812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Mortgage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$500,000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$400,000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$380,000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24.0%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3390908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Auto Loan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$50,000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$30,000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$28,500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43.0%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6983986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Unsecured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$25,000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$5,000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80.0%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49322861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89362623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C71DA4-6142-BBA7-32B6-2A7BA19713A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DA2056-3557-7901-4F86-19DF275FAC2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880" y="177164"/>
            <a:ext cx="3276600" cy="389255"/>
          </a:xfrm>
        </p:spPr>
        <p:txBody>
          <a:bodyPr>
            <a:no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Scenario Weighting &amp; ECL</a:t>
            </a:r>
            <a:b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B99BBF1-391D-659C-D16D-142BE25CAEF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55652" y="468297"/>
            <a:ext cx="8854109" cy="6387783"/>
          </a:xfrm>
        </p:spPr>
        <p:txBody>
          <a:bodyPr>
            <a:noAutofit/>
          </a:bodyPr>
          <a:lstStyle/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Comprehensive Stress Testing Framework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Regulatory Requirement: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Multiple forward-looking scenarios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Probability-weighted outcomes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Documented rationale for weights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Scenario Framework:</a:t>
            </a: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ECL Calculation Example:</a:t>
            </a: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Portfolio:</a:t>
            </a: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$100M corporate loans</a:t>
            </a:r>
          </a:p>
          <a:p>
            <a:pPr marL="0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 Average PD: 3% | Average LGD: 45%</a:t>
            </a:r>
          </a:p>
          <a:p>
            <a:pPr marL="0" indent="0">
              <a:buNone/>
            </a:pP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   Total Weighted ECL: $1.43M (1.43% of portfolio)</a:t>
            </a:r>
            <a:b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endParaRPr 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sz="1400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331F8340-399B-6779-5C2B-3668A8BD9F9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88792302"/>
              </p:ext>
            </p:extLst>
          </p:nvPr>
        </p:nvGraphicFramePr>
        <p:xfrm>
          <a:off x="934720" y="2153920"/>
          <a:ext cx="5351780" cy="1275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7945">
                  <a:extLst>
                    <a:ext uri="{9D8B030D-6E8A-4147-A177-3AD203B41FA5}">
                      <a16:colId xmlns:a16="http://schemas.microsoft.com/office/drawing/2014/main" val="4198400171"/>
                    </a:ext>
                  </a:extLst>
                </a:gridCol>
                <a:gridCol w="1337945">
                  <a:extLst>
                    <a:ext uri="{9D8B030D-6E8A-4147-A177-3AD203B41FA5}">
                      <a16:colId xmlns:a16="http://schemas.microsoft.com/office/drawing/2014/main" val="1759907153"/>
                    </a:ext>
                  </a:extLst>
                </a:gridCol>
                <a:gridCol w="1337945">
                  <a:extLst>
                    <a:ext uri="{9D8B030D-6E8A-4147-A177-3AD203B41FA5}">
                      <a16:colId xmlns:a16="http://schemas.microsoft.com/office/drawing/2014/main" val="3957911251"/>
                    </a:ext>
                  </a:extLst>
                </a:gridCol>
                <a:gridCol w="1337945">
                  <a:extLst>
                    <a:ext uri="{9D8B030D-6E8A-4147-A177-3AD203B41FA5}">
                      <a16:colId xmlns:a16="http://schemas.microsoft.com/office/drawing/2014/main" val="2621290961"/>
                    </a:ext>
                  </a:extLst>
                </a:gridCol>
              </a:tblGrid>
              <a:tr h="318770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Scenario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Probability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PD Multiplier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LGD Impact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710839998"/>
                  </a:ext>
                </a:extLst>
              </a:tr>
              <a:tr h="318770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Base Case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50%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1.0x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+0%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86232405"/>
                  </a:ext>
                </a:extLst>
              </a:tr>
              <a:tr h="318770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Upside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20%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0.8x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-5%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3319010"/>
                  </a:ext>
                </a:extLst>
              </a:tr>
              <a:tr h="318770">
                <a:tc>
                  <a:txBody>
                    <a:bodyPr/>
                    <a:lstStyle/>
                    <a:p>
                      <a:r>
                        <a:rPr lang="en-US" sz="1400" b="1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Downside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30%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1.3x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b="0" i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+15%</a:t>
                      </a: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6312098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A3465165-4444-B206-6F56-CE531B1983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5869620"/>
              </p:ext>
            </p:extLst>
          </p:nvPr>
        </p:nvGraphicFramePr>
        <p:xfrm>
          <a:off x="934720" y="4856830"/>
          <a:ext cx="6068059" cy="126111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62309">
                  <a:extLst>
                    <a:ext uri="{9D8B030D-6E8A-4147-A177-3AD203B41FA5}">
                      <a16:colId xmlns:a16="http://schemas.microsoft.com/office/drawing/2014/main" val="1293333411"/>
                    </a:ext>
                  </a:extLst>
                </a:gridCol>
                <a:gridCol w="1162309">
                  <a:extLst>
                    <a:ext uri="{9D8B030D-6E8A-4147-A177-3AD203B41FA5}">
                      <a16:colId xmlns:a16="http://schemas.microsoft.com/office/drawing/2014/main" val="3260991840"/>
                    </a:ext>
                  </a:extLst>
                </a:gridCol>
                <a:gridCol w="1162309">
                  <a:extLst>
                    <a:ext uri="{9D8B030D-6E8A-4147-A177-3AD203B41FA5}">
                      <a16:colId xmlns:a16="http://schemas.microsoft.com/office/drawing/2014/main" val="1589765232"/>
                    </a:ext>
                  </a:extLst>
                </a:gridCol>
                <a:gridCol w="1497156">
                  <a:extLst>
                    <a:ext uri="{9D8B030D-6E8A-4147-A177-3AD203B41FA5}">
                      <a16:colId xmlns:a16="http://schemas.microsoft.com/office/drawing/2014/main" val="2609235432"/>
                    </a:ext>
                  </a:extLst>
                </a:gridCol>
                <a:gridCol w="1083976">
                  <a:extLst>
                    <a:ext uri="{9D8B030D-6E8A-4147-A177-3AD203B41FA5}">
                      <a16:colId xmlns:a16="http://schemas.microsoft.com/office/drawing/2014/main" val="169659808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Weight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ECL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Weighted ECL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Cumulative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29610981"/>
                  </a:ext>
                </a:extLst>
              </a:tr>
              <a:tr h="31877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Base Case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$1.35M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$0.68M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$0.68M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80761986"/>
                  </a:ext>
                </a:extLst>
              </a:tr>
              <a:tr h="31877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Upside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$1.08M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$0.22M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$0.90M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339439231"/>
                  </a:ext>
                </a:extLst>
              </a:tr>
              <a:tr h="31877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Downside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30%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$ 1.76M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$0.53M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$1.43M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31735503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225748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9BB08C-8D8A-07D1-6EC3-32BE997193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53B48C-103E-2227-C955-788541E239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73880" y="98425"/>
            <a:ext cx="3497580" cy="389255"/>
          </a:xfrm>
        </p:spPr>
        <p:txBody>
          <a:bodyPr>
            <a:norm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Architecture &amp; Integration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5F1F3E6-C146-6211-23CA-CFB8BE30C30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35827" y="630872"/>
            <a:ext cx="3360420" cy="5596255"/>
          </a:xfrm>
        </p:spPr>
        <p:txBody>
          <a:bodyPr>
            <a:normAutofit/>
          </a:bodyPr>
          <a:lstStyle/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Orchestrator Layer</a:t>
            </a:r>
          </a:p>
          <a:p>
            <a:pPr marL="457200" lvl="1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Apache Airflow 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Monthly ECL Calculation DAGs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Automated Scheduling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Error handling &amp; Alerts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Calculation Engine</a:t>
            </a:r>
          </a:p>
          <a:p>
            <a:pPr marL="457200" lvl="1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Python + Docker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PD/LGD/ECL models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Scenario management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Audit logging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Layer</a:t>
            </a:r>
          </a:p>
          <a:p>
            <a:pPr marL="457200" lvl="1" indent="0">
              <a:buNone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SQL Database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Input: Loan Portfolio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Output: ECL Results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Archive: Historical Data</a:t>
            </a:r>
          </a:p>
          <a:p>
            <a:r>
              <a:rPr lang="en-US" sz="1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Consumption Layer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Finance GL Systems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Regulatory Reports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Management Dashboards</a:t>
            </a:r>
          </a:p>
          <a:p>
            <a:pPr lvl="1">
              <a:buFont typeface="Wingdings" panose="05000000000000000000" pitchFamily="2" charset="2"/>
              <a:buChar char="Ø"/>
            </a:pPr>
            <a:r>
              <a:rPr lang="en-US" sz="1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External Auditors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D7EF2D7-296E-11C8-C3E4-603F91FAD07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74375" y="669686"/>
            <a:ext cx="6842760" cy="551862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955891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981F96-96C5-06EB-4A56-BC7B7AF22F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46875" y="92005"/>
            <a:ext cx="2048123" cy="485665"/>
          </a:xfrm>
        </p:spPr>
        <p:txBody>
          <a:bodyPr>
            <a:norm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Deployment Time</a:t>
            </a:r>
          </a:p>
        </p:txBody>
      </p:sp>
      <p:graphicFrame>
        <p:nvGraphicFramePr>
          <p:cNvPr id="13" name="Content Placeholder 12">
            <a:extLst>
              <a:ext uri="{FF2B5EF4-FFF2-40B4-BE49-F238E27FC236}">
                <a16:creationId xmlns:a16="http://schemas.microsoft.com/office/drawing/2014/main" id="{7D03146F-BD3B-B678-EE41-588B620D44C4}"/>
              </a:ext>
            </a:extLst>
          </p:cNvPr>
          <p:cNvGraphicFramePr>
            <a:graphicFrameLocks noGrp="1"/>
          </p:cNvGraphicFramePr>
          <p:nvPr>
            <p:ph idx="1"/>
            <p:extLst>
              <p:ext uri="{D42A27DB-BD31-4B8C-83A1-F6EECF244321}">
                <p14:modId xmlns:p14="http://schemas.microsoft.com/office/powerpoint/2010/main" val="311976684"/>
              </p:ext>
            </p:extLst>
          </p:nvPr>
        </p:nvGraphicFramePr>
        <p:xfrm>
          <a:off x="838200" y="1102056"/>
          <a:ext cx="10515600" cy="2590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28900">
                  <a:extLst>
                    <a:ext uri="{9D8B030D-6E8A-4147-A177-3AD203B41FA5}">
                      <a16:colId xmlns:a16="http://schemas.microsoft.com/office/drawing/2014/main" val="313496959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243390852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4048570606"/>
                    </a:ext>
                  </a:extLst>
                </a:gridCol>
                <a:gridCol w="2628900">
                  <a:extLst>
                    <a:ext uri="{9D8B030D-6E8A-4147-A177-3AD203B41FA5}">
                      <a16:colId xmlns:a16="http://schemas.microsoft.com/office/drawing/2014/main" val="390493958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Week 1 Pilot &amp; 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Week 2 </a:t>
                      </a:r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Validation &amp; Calibration</a:t>
                      </a:r>
                    </a:p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Week 3 Integration</a:t>
                      </a:r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 &amp; Testing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lt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Week 4: Go-Live &amp; Training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2856271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Data extraction (sample portfolio)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Output validation vs. current process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Production data integration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Production deployment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444874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Environment setup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PD/LGD calibration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End-to-end testing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User training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0164492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Initial 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Scenario configuration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User acceptance testing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Documentation handover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1215531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First test run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Regulatory alignment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Performance optimization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0" kern="1200" dirty="0">
                          <a:solidFill>
                            <a:schemeClr val="dk1"/>
                          </a:solidFill>
                          <a:effectLst/>
                          <a:latin typeface="Times New Roman" panose="02020603050405020304" pitchFamily="18" charset="0"/>
                          <a:ea typeface="+mn-ea"/>
                          <a:cs typeface="Times New Roman" panose="02020603050405020304" pitchFamily="18" charset="0"/>
                        </a:rPr>
                        <a:t>Support transition</a:t>
                      </a:r>
                    </a:p>
                    <a:p>
                      <a:endParaRPr lang="en-US" sz="1400" dirty="0"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141989484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3389848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EACD45C-88D2-0D6E-00AA-59FB3B9EE2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140765" y="2249584"/>
            <a:ext cx="5033176" cy="1325563"/>
          </a:xfrm>
        </p:spPr>
        <p:txBody>
          <a:bodyPr>
            <a:normAutofit/>
          </a:bodyPr>
          <a:lstStyle/>
          <a:p>
            <a:r>
              <a:rPr lang="en-US" sz="24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Thank you</a:t>
            </a:r>
          </a:p>
        </p:txBody>
      </p:sp>
    </p:spTree>
    <p:extLst>
      <p:ext uri="{BB962C8B-B14F-4D97-AF65-F5344CB8AC3E}">
        <p14:creationId xmlns:p14="http://schemas.microsoft.com/office/powerpoint/2010/main" val="12891758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170</TotalTime>
  <Words>893</Words>
  <Application>Microsoft Office PowerPoint</Application>
  <PresentationFormat>Widescreen</PresentationFormat>
  <Paragraphs>262</Paragraphs>
  <Slides>12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Aptos</vt:lpstr>
      <vt:lpstr>Aptos Display</vt:lpstr>
      <vt:lpstr>Arial</vt:lpstr>
      <vt:lpstr>Times New Roman</vt:lpstr>
      <vt:lpstr>Wingdings</vt:lpstr>
      <vt:lpstr>Office Theme</vt:lpstr>
      <vt:lpstr>Transforming IFRS 9 Compliance: A streamlined ECL Engine Solution        Compliant, Auditable, Deployable  • Lifetime PD • Cashflow LGD  • Stage 3 ECL  • Scenario-Weighted    </vt:lpstr>
      <vt:lpstr>Executive Summary  </vt:lpstr>
      <vt:lpstr>Problem Statement </vt:lpstr>
      <vt:lpstr>Our Solution IFRS 9 Engine – Complete Compliance Platform </vt:lpstr>
      <vt:lpstr>How it Works</vt:lpstr>
      <vt:lpstr>Stage Allocation Logic</vt:lpstr>
      <vt:lpstr>Lifetime PD Modeling</vt:lpstr>
      <vt:lpstr>Cashflow-Based LGD </vt:lpstr>
      <vt:lpstr>Scenario Weighting &amp; ECL </vt:lpstr>
      <vt:lpstr>Architecture &amp; Integration</vt:lpstr>
      <vt:lpstr>Deployment Time</vt:lpstr>
      <vt:lpstr>  Thank you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IT</dc:creator>
  <cp:lastModifiedBy>IT</cp:lastModifiedBy>
  <cp:revision>323</cp:revision>
  <dcterms:created xsi:type="dcterms:W3CDTF">2026-01-30T09:13:36Z</dcterms:created>
  <dcterms:modified xsi:type="dcterms:W3CDTF">2026-01-31T03:10:18Z</dcterms:modified>
</cp:coreProperties>
</file>